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7870e6d5-900d-607f-876a-610d5955bb41}">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 Sach, Coverage Twin, Track 2. One sentence: know what your policy might leave you paying before admission. It is a working prototype, not a concept: a deterministic rules engine with a trace on every number, tested, and it runs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well known in general and unknown in particular. Everyone has heard of room-rent limits; almost nobody can say which lines of their own bill the deduction touches, under their own wording. The numbers on the right are from the prototype's synthetic case: a ₹2,500 a day room gap becomes ₹48,000 of potential deductions, most of it on the surgery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six steps and the product is built around all six: documents become structured rules with the clause kept beside each rule, a scenario is simulated, the deductions are itemised, every number points at its clause, and what cannot be determined is said out loud. The screenshot is the live Coverage Twin: two rooms, same policy, same estimate; the amber rows are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calculation is deterministic on purpose: an insurance number you cannot trace is worthless. AI is placed where it belongs, extracting candidate clauses from public wordings for a person to confirm, through an adapter that is off by default. The engine is pure TypeScript with integer-paise arithmetic, 124 tests written before the code, and an evaluation harness that keeps four measures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is not the room-rent formula, which is public; it is that every statement is pinned to a clause, every unknown stays visible, and the comparison is live. The competitor claim is deliberately narrow: nine public sources, read on 24 October, none did this. We do not say nobody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is stated as what the user gains, not as a market number we have not measured. The only figures are the evaluation results, with their dataset sizes, on the synthetic wording. That honesty is part of the product: the UI itself never shows an accuracy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regulatory fit is real and verified: a licensed direct broker that distributes health policies from many insurers, does not underwrite, and already assists claims by phone. The business case is four hypotheses with the test that would kill each one. We say plainly that insurance is a small line for Paytm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exists today and the three next steps. Everything shown runs on a laptop with Wi-Fi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19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2468880"/>
            <a:ext cx="8046720" cy="54864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4" name="Text 0"/>
          <p:cNvSpPr/>
          <p:nvPr>
            <p:ph idx="102" type="body" hasCustomPrompt="1"/>
          </p:nvPr>
        </p:nvSpPr>
        <p:spPr>
          <a:xfrm>
            <a:off x="548640" y="3154680"/>
            <a:ext cx="8046720" cy="137160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457200" y="530352"/>
            <a:ext cx="8229600" cy="685800"/>
          </a:xfrm>
          <a:prstGeom prst="rect">
            <a:avLst/>
          </a:prstGeom>
          <a:noFill/>
          <a:ln/>
        </p:spPr>
        <p:txBody>
          <a:bodyPr wrap="square" rtlCol="0"/>
          <a:lstStyle>
            <a:lvl1pPr indent="0" marL="0">
              <a:buNone/>
              <a:defRPr lang="en-US" sz="2600" b="1" dirty="0">
                <a:solidFill>
                  <a:schemeClr val="tx1"/>
                </a:solidFill>
              </a:defRPr>
            </a:lvl1pPr>
          </a:lstStyle>
          <a:p>
            <a:pPr indent="0" marL="0">
              <a:buNone/>
            </a:pPr>
            <a:endParaRPr lang="en-US" sz="2600" dirty="0"/>
          </a:p>
        </p:txBody>
      </p:sp>
      <p:sp>
        <p:nvSpPr>
          <p:cNvPr id="4" name="Text 0"/>
          <p:cNvSpPr txBox="1"/>
          <p:nvPr/>
        </p:nvSpPr>
        <p:spPr>
          <a:xfrm>
            <a:off x="457200" y="4773168"/>
            <a:ext cx="7498080" cy="228600"/>
          </a:xfrm>
          <a:prstGeom prst="rect">
            <a:avLst/>
          </a:prstGeom>
          <a:noFill/>
          <a:ln/>
        </p:spPr>
        <p:txBody>
          <a:bodyPr wrap="square" lIns="0" tIns="0" rIns="0" bIns="0" rtlCol="0" anchor="ctr"/>
          <a:lstStyle/>
          <a:p>
            <a:pPr indent="0" marL="0">
              <a:buNone/>
            </a:pPr>
            <a:r>
              <a:rPr lang="en-US" sz="900" dirty="0">
                <a:solidFill>
                  <a:schemeClr val="accent5"/>
                </a:solidFill>
              </a:rPr>
              <a:t>Claim Sach · Coverage Twin · Paytm Build for India AI Hackathon, Bengaluru, 31 Oct 2026</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rPr>
              <a:t>Claim Sach</a:t>
            </a:r>
            <a:endParaRPr lang="en-US" sz="4000" dirty="0"/>
          </a:p>
        </p:txBody>
      </p:sp>
      <p:sp>
        <p:nvSpPr>
          <p:cNvPr id="3" name="Text 0"/>
          <p:cNvSpPr/>
          <p:nvPr>
            <p:ph idx="101" type="body" hasCustomPrompt="1"/>
          </p:nvPr>
        </p:nvSpPr>
        <p:spPr>
          <a:xfrm>
            <a:off x="548640" y="2468880"/>
            <a:ext cx="8046720" cy="548640"/>
          </a:xfrm>
          <a:prstGeom prst="rect">
            <a:avLst/>
          </a:prstGeom>
          <a:noFill/>
          <a:ln/>
        </p:spPr>
        <p:txBody>
          <a:bodyPr wrap="square" lIns="0" tIns="0" rIns="0" bIns="0" rtlCol="0"/>
          <a:lstStyle/>
          <a:p>
            <a:pPr indent="0" marL="0">
              <a:buNone/>
            </a:pPr>
            <a:r>
              <a:rPr lang="en-US" sz="1800" dirty="0">
                <a:solidFill>
                  <a:schemeClr val="accent6"/>
                </a:solidFill>
              </a:rPr>
              <a:t>Coverage Twin · Track 2: AI-Powered Financial Journeys</a:t>
            </a:r>
            <a:endParaRPr lang="en-US" sz="1800" dirty="0"/>
          </a:p>
        </p:txBody>
      </p:sp>
      <p:sp>
        <p:nvSpPr>
          <p:cNvPr id="4" name="Text 0"/>
          <p:cNvSpPr/>
          <p:nvPr>
            <p:ph idx="102" type="body" hasCustomPrompt="1"/>
          </p:nvPr>
        </p:nvSpPr>
        <p:spPr>
          <a:xfrm>
            <a:off x="548640" y="3154680"/>
            <a:ext cx="8046720" cy="1371600"/>
          </a:xfrm>
          <a:prstGeom prst="rect">
            <a:avLst/>
          </a:prstGeom>
          <a:noFill/>
          <a:ln/>
        </p:spPr>
        <p:txBody>
          <a:bodyPr wrap="square" lIns="0" tIns="0" rIns="0" bIns="0" rtlCol="0" anchor="t"/>
          <a:lstStyle/>
          <a:p>
            <a:pPr indent="0" marL="0">
              <a:spcAft>
                <a:spcPts val="1000"/>
              </a:spcAft>
              <a:buNone/>
            </a:pPr>
            <a:r>
              <a:rPr lang="en-US" sz="1600" dirty="0">
                <a:solidFill>
                  <a:schemeClr val="bg1"/>
                </a:solidFill>
              </a:rPr>
              <a:t>Know what your policy might leave you paying before admission.</a:t>
            </a:r>
            <a:endParaRPr lang="en-US" sz="1400" dirty="0"/>
          </a:p>
          <a:p>
            <a:pPr indent="0" marL="0">
              <a:spcAft>
                <a:spcPts val="400"/>
              </a:spcAft>
              <a:buNone/>
            </a:pPr>
            <a:r>
              <a:rPr lang="en-US" sz="1400" dirty="0">
                <a:solidFill>
                  <a:schemeClr val="accent6"/>
                </a:solidFill>
              </a:rPr>
              <a:t>Pushkar Mondal · Paytm Build for India AI Hackathon, Bengaluru · October 2026</a:t>
            </a:r>
            <a:endParaRPr lang="en-US" sz="1400" dirty="0"/>
          </a:p>
          <a:p>
            <a:pPr indent="0" marL="0">
              <a:buNone/>
            </a:pPr>
            <a:r>
              <a:rPr lang="en-US" sz="1400" dirty="0">
                <a:solidFill>
                  <a:schemeClr val="accent6"/>
                </a:solidFill>
              </a:rPr>
              <a:t>A working prototype: deterministic engine, 180 tests, a real IRDAI-hosted wording encoded and measured, runs offline. github.com/Pushkarmondal/paytm-hackathon</a:t>
            </a:r>
            <a:endParaRPr lang="en-US" sz="1400" dirty="0"/>
          </a:p>
        </p:txBody>
      </p:sp>
      <p:sp>
        <p:nvSpPr>
          <p:cNvPr id="5" name="brand dot"/>
          <p:cNvSpPr/>
          <p:nvPr/>
        </p:nvSpPr>
        <p:spPr>
          <a:xfrm>
            <a:off x="548640" y="640080"/>
            <a:ext cx="201168" cy="201168"/>
          </a:xfrm>
          <a:prstGeom prst="ellipse">
            <a:avLst/>
          </a:prstGeom>
          <a:solidFill>
            <a:schemeClr val="accent2"/>
          </a:solidFill>
          <a:ln w="12700">
            <a:solidFill>
              <a:schemeClr val="accent2"/>
            </a:solidFill>
            <a:prstDash val="solid"/>
          </a:ln>
        </p:spPr>
      </p:sp>
      <p:sp>
        <p:nvSpPr>
          <p:cNvPr id="6" name="brand line"/>
          <p:cNvSpPr txBox="1"/>
          <p:nvPr/>
        </p:nvSpPr>
        <p:spPr>
          <a:xfrm>
            <a:off x="868680" y="566928"/>
            <a:ext cx="7315200" cy="347472"/>
          </a:xfrm>
          <a:prstGeom prst="rect">
            <a:avLst/>
          </a:prstGeom>
          <a:noFill/>
          <a:ln/>
        </p:spPr>
        <p:txBody>
          <a:bodyPr wrap="square" lIns="0" tIns="0" rIns="0" bIns="0" rtlCol="0" anchor="ctr"/>
          <a:lstStyle/>
          <a:p>
            <a:pPr indent="0" marL="0">
              <a:buNone/>
            </a:pPr>
            <a:r>
              <a:rPr lang="en-US" sz="1200" dirty="0">
                <a:solidFill>
                  <a:schemeClr val="accent6"/>
                </a:solidFill>
              </a:rPr>
              <a:t>Evidence-backed, interactive health-insurance coverage simulator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5"/>
                </a:solidFill>
              </a:rPr>
              <a:t>PROBLEM STATEMENT</a:t>
            </a:r>
            <a:endParaRPr lang="en-US" sz="11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t"/>
          <a:lstStyle/>
          <a:p>
            <a:pPr indent="0" marL="0">
              <a:buNone/>
            </a:pPr>
            <a:r>
              <a:rPr lang="en-US" sz="2600" b="1" dirty="0">
                <a:solidFill>
                  <a:schemeClr val="tx1"/>
                </a:solidFill>
              </a:rPr>
              <a:t>The policy's cost shows up at the hospital</a:t>
            </a:r>
            <a:endParaRPr lang="en-US" sz="2600" dirty="0"/>
          </a:p>
        </p:txBody>
      </p:sp>
      <p:sp>
        <p:nvSpPr>
          <p:cNvPr id="4" name="problem text"/>
          <p:cNvSpPr txBox="1"/>
          <p:nvPr/>
        </p:nvSpPr>
        <p:spPr>
          <a:xfrm>
            <a:off x="457200" y="1371600"/>
            <a:ext cx="4297680" cy="320040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Room-rent limits, proportionate deductions, sub-limits and exclusions surface at admission, not at purchase.</a:t>
            </a:r>
            <a:endParaRPr lang="en-US" sz="1400" dirty="0"/>
          </a:p>
          <a:p>
            <a:pPr indent="0" marL="0">
              <a:spcAft>
                <a:spcPts val="800"/>
              </a:spcAft>
              <a:buNone/>
            </a:pPr>
            <a:r>
              <a:rPr lang="en-US" sz="1400" dirty="0">
                <a:solidFill>
                  <a:schemeClr val="tx1"/>
                </a:solidFill>
              </a:rPr>
              <a:t>The room-rent clause is the sharpest. Pick a room above the eligible rate and many policies pay the surgeon, anaesthetist, nursing and operation-theatre charges only in the proportion eligible ÷ actual rate. It is not about the room.</a:t>
            </a:r>
            <a:endParaRPr lang="en-US" sz="1400" dirty="0"/>
          </a:p>
          <a:p>
            <a:pPr indent="0" marL="0">
              <a:buNone/>
            </a:pPr>
            <a:r>
              <a:rPr lang="en-US" sz="1400" dirty="0">
                <a:solidFill>
                  <a:schemeClr val="tx1"/>
                </a:solidFill>
              </a:rPr>
              <a:t>Which items are touched depends on the policy's own definition. General explainers stop at the concept; the gap we are testing is applying your own wording to your own bill.</a:t>
            </a:r>
            <a:endParaRPr lang="en-US" sz="1400" dirty="0"/>
          </a:p>
        </p:txBody>
      </p:sp>
      <p:sp>
        <p:nvSpPr>
          <p:cNvPr id="5" name="stat card 1"/>
          <p:cNvSpPr/>
          <p:nvPr/>
        </p:nvSpPr>
        <p:spPr>
          <a:xfrm>
            <a:off x="5029200" y="1325880"/>
            <a:ext cx="3657600" cy="1005840"/>
          </a:xfrm>
          <a:prstGeom prst="roundRect">
            <a:avLst>
              <a:gd name="adj" fmla="val 7273"/>
            </a:avLst>
          </a:prstGeom>
          <a:solidFill>
            <a:schemeClr val="bg2"/>
          </a:solidFill>
          <a:ln w="9525">
            <a:solidFill>
              <a:schemeClr val="accent6"/>
            </a:solidFill>
            <a:prstDash val="solid"/>
          </a:ln>
        </p:spPr>
      </p:sp>
      <p:sp>
        <p:nvSpPr>
          <p:cNvPr id="6" name="stat big 1"/>
          <p:cNvSpPr txBox="1"/>
          <p:nvPr/>
        </p:nvSpPr>
        <p:spPr>
          <a:xfrm>
            <a:off x="5166360" y="1399032"/>
            <a:ext cx="3383280" cy="457200"/>
          </a:xfrm>
          <a:prstGeom prst="rect">
            <a:avLst/>
          </a:prstGeom>
          <a:noFill/>
          <a:ln/>
        </p:spPr>
        <p:txBody>
          <a:bodyPr wrap="square" lIns="0" tIns="0" rIns="0" bIns="0" rtlCol="0" anchor="ctr"/>
          <a:lstStyle/>
          <a:p>
            <a:pPr indent="0" marL="0">
              <a:buNone/>
            </a:pPr>
            <a:r>
              <a:rPr lang="en-US" sz="2400" b="1" dirty="0">
                <a:solidFill>
                  <a:schemeClr val="accent1"/>
                </a:solidFill>
              </a:rPr>
              <a:t>₹2,500 a day</a:t>
            </a:r>
            <a:endParaRPr lang="en-US" sz="2400" dirty="0"/>
          </a:p>
        </p:txBody>
      </p:sp>
      <p:sp>
        <p:nvSpPr>
          <p:cNvPr id="7" name="stat small 1"/>
          <p:cNvSpPr txBox="1"/>
          <p:nvPr/>
        </p:nvSpPr>
        <p:spPr>
          <a:xfrm>
            <a:off x="5166360" y="1828800"/>
            <a:ext cx="3383280" cy="457200"/>
          </a:xfrm>
          <a:prstGeom prst="rect">
            <a:avLst/>
          </a:prstGeom>
          <a:noFill/>
          <a:ln/>
        </p:spPr>
        <p:txBody>
          <a:bodyPr wrap="square" lIns="0" tIns="0" rIns="0" bIns="0" rtlCol="0" anchor="t"/>
          <a:lstStyle/>
          <a:p>
            <a:pPr indent="0" marL="0">
              <a:buNone/>
            </a:pPr>
            <a:r>
              <a:rPr lang="en-US" sz="1100" dirty="0">
                <a:solidFill>
                  <a:schemeClr val="tx2"/>
                </a:solidFill>
              </a:rPr>
              <a:t>the room-rent gap in our worked example: ₹7,500 chosen against ₹5,000 eligible</a:t>
            </a:r>
            <a:endParaRPr lang="en-US" sz="1100" dirty="0"/>
          </a:p>
        </p:txBody>
      </p:sp>
      <p:sp>
        <p:nvSpPr>
          <p:cNvPr id="8" name="stat card 2"/>
          <p:cNvSpPr/>
          <p:nvPr/>
        </p:nvSpPr>
        <p:spPr>
          <a:xfrm>
            <a:off x="5029200" y="2441448"/>
            <a:ext cx="3657600" cy="1005840"/>
          </a:xfrm>
          <a:prstGeom prst="roundRect">
            <a:avLst>
              <a:gd name="adj" fmla="val 7273"/>
            </a:avLst>
          </a:prstGeom>
          <a:solidFill>
            <a:schemeClr val="bg2"/>
          </a:solidFill>
          <a:ln w="9525">
            <a:solidFill>
              <a:schemeClr val="accent6"/>
            </a:solidFill>
            <a:prstDash val="solid"/>
          </a:ln>
        </p:spPr>
      </p:sp>
      <p:sp>
        <p:nvSpPr>
          <p:cNvPr id="9" name="stat big 2"/>
          <p:cNvSpPr txBox="1"/>
          <p:nvPr/>
        </p:nvSpPr>
        <p:spPr>
          <a:xfrm>
            <a:off x="5166360" y="2514600"/>
            <a:ext cx="3383280" cy="457200"/>
          </a:xfrm>
          <a:prstGeom prst="rect">
            <a:avLst/>
          </a:prstGeom>
          <a:noFill/>
          <a:ln/>
        </p:spPr>
        <p:txBody>
          <a:bodyPr wrap="square" lIns="0" tIns="0" rIns="0" bIns="0" rtlCol="0" anchor="ctr"/>
          <a:lstStyle/>
          <a:p>
            <a:pPr indent="0" marL="0">
              <a:buNone/>
            </a:pPr>
            <a:r>
              <a:rPr lang="en-US" sz="2400" b="1" dirty="0">
                <a:solidFill>
                  <a:schemeClr val="accent1"/>
                </a:solidFill>
              </a:rPr>
              <a:t>₹48,000</a:t>
            </a:r>
            <a:endParaRPr lang="en-US" sz="2400" dirty="0"/>
          </a:p>
        </p:txBody>
      </p:sp>
      <p:sp>
        <p:nvSpPr>
          <p:cNvPr id="10" name="stat small 2"/>
          <p:cNvSpPr txBox="1"/>
          <p:nvPr/>
        </p:nvSpPr>
        <p:spPr>
          <a:xfrm>
            <a:off x="5166360" y="2944368"/>
            <a:ext cx="3383280" cy="457200"/>
          </a:xfrm>
          <a:prstGeom prst="rect">
            <a:avLst/>
          </a:prstGeom>
          <a:noFill/>
          <a:ln/>
        </p:spPr>
        <p:txBody>
          <a:bodyPr wrap="square" lIns="0" tIns="0" rIns="0" bIns="0" rtlCol="0" anchor="t"/>
          <a:lstStyle/>
          <a:p>
            <a:pPr indent="0" marL="0">
              <a:buNone/>
            </a:pPr>
            <a:r>
              <a:rPr lang="en-US" sz="1100" dirty="0">
                <a:solidFill>
                  <a:schemeClr val="tx2"/>
                </a:solidFill>
              </a:rPr>
              <a:t>potential deductions from that one choice, ₹38,000 of it on items that are not the room</a:t>
            </a:r>
            <a:endParaRPr lang="en-US" sz="1100" dirty="0"/>
          </a:p>
        </p:txBody>
      </p:sp>
      <p:sp>
        <p:nvSpPr>
          <p:cNvPr id="11" name="stat card 3"/>
          <p:cNvSpPr/>
          <p:nvPr/>
        </p:nvSpPr>
        <p:spPr>
          <a:xfrm>
            <a:off x="5029200" y="3557016"/>
            <a:ext cx="3657600" cy="1005840"/>
          </a:xfrm>
          <a:prstGeom prst="roundRect">
            <a:avLst>
              <a:gd name="adj" fmla="val 7273"/>
            </a:avLst>
          </a:prstGeom>
          <a:solidFill>
            <a:schemeClr val="bg2"/>
          </a:solidFill>
          <a:ln w="9525">
            <a:solidFill>
              <a:schemeClr val="accent6"/>
            </a:solidFill>
            <a:prstDash val="solid"/>
          </a:ln>
        </p:spPr>
      </p:sp>
      <p:sp>
        <p:nvSpPr>
          <p:cNvPr id="12" name="stat big 3"/>
          <p:cNvSpPr txBox="1"/>
          <p:nvPr/>
        </p:nvSpPr>
        <p:spPr>
          <a:xfrm>
            <a:off x="5166360" y="3630168"/>
            <a:ext cx="3383280" cy="457200"/>
          </a:xfrm>
          <a:prstGeom prst="rect">
            <a:avLst/>
          </a:prstGeom>
          <a:noFill/>
          <a:ln/>
        </p:spPr>
        <p:txBody>
          <a:bodyPr wrap="square" lIns="0" tIns="0" rIns="0" bIns="0" rtlCol="0" anchor="ctr"/>
          <a:lstStyle/>
          <a:p>
            <a:pPr indent="0" marL="0">
              <a:buNone/>
            </a:pPr>
            <a:r>
              <a:rPr lang="en-US" sz="2400" b="1" dirty="0">
                <a:solidFill>
                  <a:schemeClr val="accent1"/>
                </a:solidFill>
              </a:rPr>
              <a:t>4 of 11 lines</a:t>
            </a:r>
            <a:endParaRPr lang="en-US" sz="2400" dirty="0"/>
          </a:p>
        </p:txBody>
      </p:sp>
      <p:sp>
        <p:nvSpPr>
          <p:cNvPr id="13" name="stat small 3"/>
          <p:cNvSpPr txBox="1"/>
          <p:nvPr/>
        </p:nvSpPr>
        <p:spPr>
          <a:xfrm>
            <a:off x="5166360" y="4059936"/>
            <a:ext cx="3383280" cy="457200"/>
          </a:xfrm>
          <a:prstGeom prst="rect">
            <a:avLst/>
          </a:prstGeom>
          <a:noFill/>
          <a:ln/>
        </p:spPr>
        <p:txBody>
          <a:bodyPr wrap="square" lIns="0" tIns="0" rIns="0" bIns="0" rtlCol="0" anchor="t"/>
          <a:lstStyle/>
          <a:p>
            <a:pPr indent="0" marL="0">
              <a:buNone/>
            </a:pPr>
            <a:r>
              <a:rPr lang="en-US" sz="1100" dirty="0">
                <a:solidFill>
                  <a:schemeClr val="tx2"/>
                </a:solidFill>
              </a:rPr>
              <a:t>affected under the policy's definition; 3 excluded by it; 2 the wording never classifies</a:t>
            </a:r>
            <a:endParaRPr lang="en-US" sz="1100" dirty="0"/>
          </a:p>
        </p:txBody>
      </p:sp>
      <p:sp>
        <p:nvSpPr>
          <p:cNvPr id="14" name="problem caption"/>
          <p:cNvSpPr txBox="1"/>
          <p:nvPr/>
        </p:nvSpPr>
        <p:spPr>
          <a:xfrm>
            <a:off x="457200" y="4480560"/>
            <a:ext cx="8229600" cy="256032"/>
          </a:xfrm>
          <a:prstGeom prst="rect">
            <a:avLst/>
          </a:prstGeom>
          <a:noFill/>
          <a:ln/>
        </p:spPr>
        <p:txBody>
          <a:bodyPr wrap="square" lIns="0" tIns="0" rIns="0" bIns="0" rtlCol="0" anchor="ctr"/>
          <a:lstStyle/>
          <a:p>
            <a:pPr indent="0" marL="0">
              <a:buNone/>
            </a:pPr>
            <a:r>
              <a:rPr lang="en-US" sz="1000" i="1" dirty="0">
                <a:solidFill>
                  <a:schemeClr val="accent5"/>
                </a:solidFill>
              </a:rPr>
              <a:t>Worked example on a synthetic policy and estimate, computed by the prototype. Not a market statistic.</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5"/>
                </a:solidFill>
              </a:rPr>
              <a:t>PROPOSED SOLUTION</a:t>
            </a:r>
            <a:endParaRPr lang="en-US" sz="11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t"/>
          <a:lstStyle/>
          <a:p>
            <a:pPr indent="0" marL="0">
              <a:buNone/>
            </a:pPr>
            <a:r>
              <a:rPr lang="en-US" sz="2600" b="1" dirty="0">
                <a:solidFill>
                  <a:schemeClr val="tx1"/>
                </a:solidFill>
              </a:rPr>
              <a:t>Coverage Twin: your wording, your bill, live</a:t>
            </a:r>
            <a:endParaRPr lang="en-US" sz="2600" dirty="0"/>
          </a:p>
        </p:txBody>
      </p:sp>
      <p:sp>
        <p:nvSpPr>
          <p:cNvPr id="4" name="step 1"/>
          <p:cNvSpPr/>
          <p:nvPr/>
        </p:nvSpPr>
        <p:spPr>
          <a:xfrm>
            <a:off x="457200" y="1325880"/>
            <a:ext cx="1298448" cy="566928"/>
          </a:xfrm>
          <a:prstGeom prst="roundRect">
            <a:avLst>
              <a:gd name="adj" fmla="val 12903"/>
            </a:avLst>
          </a:prstGeom>
          <a:solidFill>
            <a:schemeClr val="bg2"/>
          </a:solidFill>
          <a:ln w="9525">
            <a:solidFill>
              <a:schemeClr val="accent6"/>
            </a:solidFill>
            <a:prstDash val="solid"/>
          </a:ln>
        </p:spPr>
      </p:sp>
      <p:sp>
        <p:nvSpPr>
          <p:cNvPr id="5" name="step text 1"/>
          <p:cNvSpPr txBox="1"/>
          <p:nvPr/>
        </p:nvSpPr>
        <p:spPr>
          <a:xfrm>
            <a:off x="512064" y="1325880"/>
            <a:ext cx="1188720" cy="566928"/>
          </a:xfrm>
          <a:prstGeom prst="rect">
            <a:avLst/>
          </a:prstGeom>
          <a:noFill/>
          <a:ln/>
        </p:spPr>
        <p:txBody>
          <a:bodyPr wrap="square" lIns="0" tIns="0" rIns="0" bIns="0" rtlCol="0" anchor="ctr"/>
          <a:lstStyle/>
          <a:p>
            <a:pPr algn="ctr" indent="0" marL="0">
              <a:buNone/>
            </a:pPr>
            <a:r>
              <a:rPr lang="en-US" sz="1050" b="1" dirty="0">
                <a:solidFill>
                  <a:schemeClr val="tx1"/>
                </a:solidFill>
              </a:rPr>
              <a:t>1  Policy documents</a:t>
            </a:r>
            <a:endParaRPr lang="en-US" sz="1050" dirty="0"/>
          </a:p>
        </p:txBody>
      </p:sp>
      <p:sp>
        <p:nvSpPr>
          <p:cNvPr id="6" name="step 2"/>
          <p:cNvSpPr/>
          <p:nvPr/>
        </p:nvSpPr>
        <p:spPr>
          <a:xfrm>
            <a:off x="1843430" y="1325880"/>
            <a:ext cx="1298448" cy="566928"/>
          </a:xfrm>
          <a:prstGeom prst="roundRect">
            <a:avLst>
              <a:gd name="adj" fmla="val 12903"/>
            </a:avLst>
          </a:prstGeom>
          <a:solidFill>
            <a:schemeClr val="bg2"/>
          </a:solidFill>
          <a:ln w="9525">
            <a:solidFill>
              <a:schemeClr val="accent6"/>
            </a:solidFill>
            <a:prstDash val="solid"/>
          </a:ln>
        </p:spPr>
      </p:sp>
      <p:sp>
        <p:nvSpPr>
          <p:cNvPr id="7" name="step text 2"/>
          <p:cNvSpPr txBox="1"/>
          <p:nvPr/>
        </p:nvSpPr>
        <p:spPr>
          <a:xfrm>
            <a:off x="1898294" y="1325880"/>
            <a:ext cx="1188720" cy="566928"/>
          </a:xfrm>
          <a:prstGeom prst="rect">
            <a:avLst/>
          </a:prstGeom>
          <a:noFill/>
          <a:ln/>
        </p:spPr>
        <p:txBody>
          <a:bodyPr wrap="square" lIns="0" tIns="0" rIns="0" bIns="0" rtlCol="0" anchor="ctr"/>
          <a:lstStyle/>
          <a:p>
            <a:pPr algn="ctr" indent="0" marL="0">
              <a:buNone/>
            </a:pPr>
            <a:r>
              <a:rPr lang="en-US" sz="1050" b="1" dirty="0">
                <a:solidFill>
                  <a:schemeClr val="tx1"/>
                </a:solidFill>
              </a:rPr>
              <a:t>2  Structured rules</a:t>
            </a:r>
            <a:endParaRPr lang="en-US" sz="1050" dirty="0"/>
          </a:p>
        </p:txBody>
      </p:sp>
      <p:sp>
        <p:nvSpPr>
          <p:cNvPr id="8" name="step 3"/>
          <p:cNvSpPr/>
          <p:nvPr/>
        </p:nvSpPr>
        <p:spPr>
          <a:xfrm>
            <a:off x="3229661" y="1325880"/>
            <a:ext cx="1298448" cy="566928"/>
          </a:xfrm>
          <a:prstGeom prst="roundRect">
            <a:avLst>
              <a:gd name="adj" fmla="val 12903"/>
            </a:avLst>
          </a:prstGeom>
          <a:solidFill>
            <a:schemeClr val="bg2"/>
          </a:solidFill>
          <a:ln w="9525">
            <a:solidFill>
              <a:schemeClr val="accent6"/>
            </a:solidFill>
            <a:prstDash val="solid"/>
          </a:ln>
        </p:spPr>
      </p:sp>
      <p:sp>
        <p:nvSpPr>
          <p:cNvPr id="9" name="step text 3"/>
          <p:cNvSpPr txBox="1"/>
          <p:nvPr/>
        </p:nvSpPr>
        <p:spPr>
          <a:xfrm>
            <a:off x="3284525" y="1325880"/>
            <a:ext cx="1188720" cy="566928"/>
          </a:xfrm>
          <a:prstGeom prst="rect">
            <a:avLst/>
          </a:prstGeom>
          <a:noFill/>
          <a:ln/>
        </p:spPr>
        <p:txBody>
          <a:bodyPr wrap="square" lIns="0" tIns="0" rIns="0" bIns="0" rtlCol="0" anchor="ctr"/>
          <a:lstStyle/>
          <a:p>
            <a:pPr algn="ctr" indent="0" marL="0">
              <a:buNone/>
            </a:pPr>
            <a:r>
              <a:rPr lang="en-US" sz="1050" b="1" dirty="0">
                <a:solidFill>
                  <a:schemeClr val="tx1"/>
                </a:solidFill>
              </a:rPr>
              <a:t>3  Scenario simulation</a:t>
            </a:r>
            <a:endParaRPr lang="en-US" sz="1050" dirty="0"/>
          </a:p>
        </p:txBody>
      </p:sp>
      <p:sp>
        <p:nvSpPr>
          <p:cNvPr id="10" name="step 4"/>
          <p:cNvSpPr/>
          <p:nvPr/>
        </p:nvSpPr>
        <p:spPr>
          <a:xfrm>
            <a:off x="4615891" y="1325880"/>
            <a:ext cx="1298448" cy="566928"/>
          </a:xfrm>
          <a:prstGeom prst="roundRect">
            <a:avLst>
              <a:gd name="adj" fmla="val 12903"/>
            </a:avLst>
          </a:prstGeom>
          <a:solidFill>
            <a:schemeClr val="tx1"/>
          </a:solidFill>
          <a:ln w="9525">
            <a:solidFill>
              <a:schemeClr val="tx1"/>
            </a:solidFill>
            <a:prstDash val="solid"/>
          </a:ln>
        </p:spPr>
      </p:sp>
      <p:sp>
        <p:nvSpPr>
          <p:cNvPr id="11" name="step text 4"/>
          <p:cNvSpPr txBox="1"/>
          <p:nvPr/>
        </p:nvSpPr>
        <p:spPr>
          <a:xfrm>
            <a:off x="4670755" y="1325880"/>
            <a:ext cx="1188720" cy="566928"/>
          </a:xfrm>
          <a:prstGeom prst="rect">
            <a:avLst/>
          </a:prstGeom>
          <a:noFill/>
          <a:ln/>
        </p:spPr>
        <p:txBody>
          <a:bodyPr wrap="square" lIns="0" tIns="0" rIns="0" bIns="0" rtlCol="0" anchor="ctr"/>
          <a:lstStyle/>
          <a:p>
            <a:pPr algn="ctr" indent="0" marL="0">
              <a:buNone/>
            </a:pPr>
            <a:r>
              <a:rPr lang="en-US" sz="1050" b="1" dirty="0">
                <a:solidFill>
                  <a:schemeClr val="bg1"/>
                </a:solidFill>
              </a:rPr>
              <a:t>4  Itemised potential deductions</a:t>
            </a:r>
            <a:endParaRPr lang="en-US" sz="1050" dirty="0"/>
          </a:p>
        </p:txBody>
      </p:sp>
      <p:sp>
        <p:nvSpPr>
          <p:cNvPr id="12" name="step 5"/>
          <p:cNvSpPr/>
          <p:nvPr/>
        </p:nvSpPr>
        <p:spPr>
          <a:xfrm>
            <a:off x="6002122" y="1325880"/>
            <a:ext cx="1298448" cy="566928"/>
          </a:xfrm>
          <a:prstGeom prst="roundRect">
            <a:avLst>
              <a:gd name="adj" fmla="val 12903"/>
            </a:avLst>
          </a:prstGeom>
          <a:solidFill>
            <a:schemeClr val="bg2"/>
          </a:solidFill>
          <a:ln w="9525">
            <a:solidFill>
              <a:schemeClr val="accent6"/>
            </a:solidFill>
            <a:prstDash val="solid"/>
          </a:ln>
        </p:spPr>
      </p:sp>
      <p:sp>
        <p:nvSpPr>
          <p:cNvPr id="13" name="step text 5"/>
          <p:cNvSpPr txBox="1"/>
          <p:nvPr/>
        </p:nvSpPr>
        <p:spPr>
          <a:xfrm>
            <a:off x="6056986" y="1325880"/>
            <a:ext cx="1188720" cy="566928"/>
          </a:xfrm>
          <a:prstGeom prst="rect">
            <a:avLst/>
          </a:prstGeom>
          <a:noFill/>
          <a:ln/>
        </p:spPr>
        <p:txBody>
          <a:bodyPr wrap="square" lIns="0" tIns="0" rIns="0" bIns="0" rtlCol="0" anchor="ctr"/>
          <a:lstStyle/>
          <a:p>
            <a:pPr algn="ctr" indent="0" marL="0">
              <a:buNone/>
            </a:pPr>
            <a:r>
              <a:rPr lang="en-US" sz="1050" b="1" dirty="0">
                <a:solidFill>
                  <a:schemeClr val="tx1"/>
                </a:solidFill>
              </a:rPr>
              <a:t>5  Source clause</a:t>
            </a:r>
            <a:endParaRPr lang="en-US" sz="1050" dirty="0"/>
          </a:p>
        </p:txBody>
      </p:sp>
      <p:sp>
        <p:nvSpPr>
          <p:cNvPr id="14" name="step 6"/>
          <p:cNvSpPr/>
          <p:nvPr/>
        </p:nvSpPr>
        <p:spPr>
          <a:xfrm>
            <a:off x="7388352" y="1325880"/>
            <a:ext cx="1298448" cy="566928"/>
          </a:xfrm>
          <a:prstGeom prst="roundRect">
            <a:avLst>
              <a:gd name="adj" fmla="val 12903"/>
            </a:avLst>
          </a:prstGeom>
          <a:solidFill>
            <a:schemeClr val="bg2"/>
          </a:solidFill>
          <a:ln w="9525">
            <a:solidFill>
              <a:schemeClr val="accent6"/>
            </a:solidFill>
            <a:prstDash val="solid"/>
          </a:ln>
        </p:spPr>
      </p:sp>
      <p:sp>
        <p:nvSpPr>
          <p:cNvPr id="15" name="step text 6"/>
          <p:cNvSpPr txBox="1"/>
          <p:nvPr/>
        </p:nvSpPr>
        <p:spPr>
          <a:xfrm>
            <a:off x="7443216" y="1325880"/>
            <a:ext cx="1188720" cy="566928"/>
          </a:xfrm>
          <a:prstGeom prst="rect">
            <a:avLst/>
          </a:prstGeom>
          <a:noFill/>
          <a:ln/>
        </p:spPr>
        <p:txBody>
          <a:bodyPr wrap="square" lIns="0" tIns="0" rIns="0" bIns="0" rtlCol="0" anchor="ctr"/>
          <a:lstStyle/>
          <a:p>
            <a:pPr algn="ctr" indent="0" marL="0">
              <a:buNone/>
            </a:pPr>
            <a:r>
              <a:rPr lang="en-US" sz="1050" b="1" dirty="0">
                <a:solidFill>
                  <a:schemeClr val="tx1"/>
                </a:solidFill>
              </a:rPr>
              <a:t>6  Explicit uncertainty</a:t>
            </a:r>
            <a:endParaRPr lang="en-US" sz="1050" dirty="0"/>
          </a:p>
        </p:txBody>
      </p:sp>
      <p:sp>
        <p:nvSpPr>
          <p:cNvPr id="16" name="solution text"/>
          <p:cNvSpPr txBox="1"/>
          <p:nvPr/>
        </p:nvSpPr>
        <p:spPr>
          <a:xfrm>
            <a:off x="457200" y="2103120"/>
            <a:ext cx="4023360" cy="25603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What a judge does in three minutes</a:t>
            </a:r>
            <a:endParaRPr lang="en-US" sz="1250" dirty="0"/>
          </a:p>
          <a:p>
            <a:pPr marL="342900" indent="-342900">
              <a:spcAft>
                <a:spcPts val="300"/>
              </a:spcAft>
              <a:buSzPct val="100000"/>
              <a:buChar char="•"/>
            </a:pPr>
            <a:r>
              <a:rPr lang="en-US" sz="1250" dirty="0">
                <a:solidFill>
                  <a:schemeClr val="tx1"/>
                </a:solidFill>
              </a:rPr>
              <a:t>Open the example policy and estimate.</a:t>
            </a:r>
            <a:endParaRPr lang="en-US" sz="1250" dirty="0"/>
          </a:p>
          <a:p>
            <a:pPr marL="342900" indent="-342900">
              <a:spcAft>
                <a:spcPts val="300"/>
              </a:spcAft>
              <a:buSzPct val="100000"/>
              <a:buChar char="•"/>
            </a:pPr>
            <a:r>
              <a:rPr lang="en-US" sz="1250" dirty="0">
                <a:solidFill>
                  <a:schemeClr val="tx1"/>
                </a:solidFill>
              </a:rPr>
              <a:t>Change the room category or rate; the itemised breakdown updates at once.</a:t>
            </a:r>
            <a:endParaRPr lang="en-US" sz="1250" dirty="0"/>
          </a:p>
          <a:p>
            <a:pPr marL="342900" indent="-342900">
              <a:spcAft>
                <a:spcPts val="300"/>
              </a:spcAft>
              <a:buSzPct val="100000"/>
              <a:buChar char="•"/>
            </a:pPr>
            <a:r>
              <a:rPr lang="en-US" sz="1250" dirty="0">
                <a:solidFill>
                  <a:schemeClr val="tx1"/>
                </a:solidFill>
              </a:rPr>
              <a:t>Click any amount: its clause, page, inputs with provenance, formula.</a:t>
            </a:r>
            <a:endParaRPr lang="en-US" sz="1250" dirty="0"/>
          </a:p>
          <a:p>
            <a:pPr marL="342900" indent="-342900">
              <a:spcAft>
                <a:spcPts val="1000"/>
              </a:spcAft>
              <a:buSzPct val="100000"/>
              <a:buChar char="•"/>
            </a:pPr>
            <a:r>
              <a:rPr lang="en-US" sz="1250" dirty="0">
                <a:solidFill>
                  <a:schemeClr val="tx1"/>
                </a:solidFill>
              </a:rPr>
              <a:t>Open the uncertainty panel: what could not be established, and who can settle it.</a:t>
            </a:r>
            <a:endParaRPr lang="en-US" sz="1250" dirty="0"/>
          </a:p>
          <a:p>
            <a:pPr indent="0" marL="0">
              <a:buNone/>
            </a:pPr>
            <a:r>
              <a:rPr lang="en-US" sz="1250" i="1" dirty="0">
                <a:solidFill>
                  <a:schemeClr val="tx2"/>
                </a:solidFill>
              </a:rPr>
              <a:t>Not a chatbot. Not a payout guarantee. A scenario estimate of the deductions it covers, with its unknowns on screen.</a:t>
            </a:r>
            <a:endParaRPr lang="en-US" sz="1250" dirty="0"/>
          </a:p>
        </p:txBody>
      </p:sp>
      <p:pic>
        <p:nvPicPr>
          <p:cNvPr id="17" name="twin screenshot" descr="Coverage Twin screen: twin-sharing room against single private room, itemised potential deductions with states">    </p:cNvPr>
          <p:cNvPicPr>
            <a:picLocks noChangeAspect="1"/>
          </p:cNvPicPr>
          <p:nvPr/>
        </p:nvPicPr>
        <p:blipFill>
          <a:blip r:embed="rId1"/>
          <a:stretch>
            <a:fillRect/>
          </a:stretch>
        </p:blipFill>
        <p:spPr>
          <a:xfrm>
            <a:off x="4754880" y="2057400"/>
            <a:ext cx="3931920" cy="2948940"/>
          </a:xfrm>
          <a:prstGeom prst="rect">
            <a:avLst/>
          </a:prstGeom>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5"/>
                </a:solidFill>
              </a:rPr>
              <a:t>TECHNOLOGY / TECH STACK</a:t>
            </a:r>
            <a:endParaRPr lang="en-US" sz="11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t"/>
          <a:lstStyle/>
          <a:p>
            <a:pPr indent="0" marL="0">
              <a:buNone/>
            </a:pPr>
            <a:r>
              <a:rPr lang="en-US" sz="2600" b="1" dirty="0">
                <a:solidFill>
                  <a:schemeClr val="tx1"/>
                </a:solidFill>
              </a:rPr>
              <a:t>Deterministic engine, AI only with human review</a:t>
            </a:r>
            <a:endParaRPr lang="en-US" sz="2600" dirty="0"/>
          </a:p>
        </p:txBody>
      </p:sp>
      <p:sp>
        <p:nvSpPr>
          <p:cNvPr id="4" name="card Frontend"/>
          <p:cNvSpPr/>
          <p:nvPr/>
        </p:nvSpPr>
        <p:spPr>
          <a:xfrm>
            <a:off x="457200" y="1371600"/>
            <a:ext cx="2606040" cy="1554480"/>
          </a:xfrm>
          <a:prstGeom prst="roundRect">
            <a:avLst>
              <a:gd name="adj" fmla="val 4706"/>
            </a:avLst>
          </a:prstGeom>
          <a:solidFill>
            <a:schemeClr val="bg2"/>
          </a:solidFill>
          <a:ln w="9525">
            <a:solidFill>
              <a:schemeClr val="accent6"/>
            </a:solidFill>
            <a:prstDash val="solid"/>
          </a:ln>
        </p:spPr>
      </p:sp>
      <p:sp>
        <p:nvSpPr>
          <p:cNvPr id="5" name="card text Frontend"/>
          <p:cNvSpPr txBox="1"/>
          <p:nvPr/>
        </p:nvSpPr>
        <p:spPr>
          <a:xfrm>
            <a:off x="566928" y="1463040"/>
            <a:ext cx="2386584" cy="137160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Frontend</a:t>
            </a:r>
            <a:endParaRPr lang="en-US" sz="1300" dirty="0"/>
          </a:p>
          <a:p>
            <a:pPr indent="0" marL="0">
              <a:spcAft>
                <a:spcPts val="300"/>
              </a:spcAft>
              <a:buNone/>
            </a:pPr>
            <a:r>
              <a:rPr lang="en-US" sz="1150" dirty="0">
                <a:solidFill>
                  <a:schemeClr val="tx1"/>
                </a:solidFill>
              </a:rPr>
              <a:t>TypeScript, strict. Next.js 16 (App Router), React 19, Tailwind 4.</a:t>
            </a:r>
            <a:endParaRPr lang="en-US" sz="1300" dirty="0"/>
          </a:p>
          <a:p>
            <a:pPr indent="0" marL="0">
              <a:spcAft>
                <a:spcPts val="300"/>
              </a:spcAft>
              <a:buNone/>
            </a:pPr>
            <a:r>
              <a:rPr lang="en-US" sz="1150" dirty="0">
                <a:solidFill>
                  <a:schemeClr val="tx1"/>
                </a:solidFill>
              </a:rPr>
              <a:t>Five screens on a tested screen model; no business logic in components.</a:t>
            </a:r>
            <a:endParaRPr lang="en-US" sz="1300" dirty="0"/>
          </a:p>
        </p:txBody>
      </p:sp>
      <p:sp>
        <p:nvSpPr>
          <p:cNvPr id="6" name="card Rules engine"/>
          <p:cNvSpPr/>
          <p:nvPr/>
        </p:nvSpPr>
        <p:spPr>
          <a:xfrm>
            <a:off x="3268980" y="1371600"/>
            <a:ext cx="2606040" cy="1554480"/>
          </a:xfrm>
          <a:prstGeom prst="roundRect">
            <a:avLst>
              <a:gd name="adj" fmla="val 4706"/>
            </a:avLst>
          </a:prstGeom>
          <a:solidFill>
            <a:schemeClr val="bg2"/>
          </a:solidFill>
          <a:ln w="9525">
            <a:solidFill>
              <a:schemeClr val="accent6"/>
            </a:solidFill>
            <a:prstDash val="solid"/>
          </a:ln>
        </p:spPr>
      </p:sp>
      <p:sp>
        <p:nvSpPr>
          <p:cNvPr id="7" name="card text Rules engine"/>
          <p:cNvSpPr txBox="1"/>
          <p:nvPr/>
        </p:nvSpPr>
        <p:spPr>
          <a:xfrm>
            <a:off x="3378708" y="1463040"/>
            <a:ext cx="2386584" cy="137160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Rules engine</a:t>
            </a:r>
            <a:endParaRPr lang="en-US" sz="1300" dirty="0"/>
          </a:p>
          <a:p>
            <a:pPr indent="0" marL="0">
              <a:spcAft>
                <a:spcPts val="300"/>
              </a:spcAft>
              <a:buNone/>
            </a:pPr>
            <a:r>
              <a:rPr lang="en-US" sz="1150" dirty="0">
                <a:solidFill>
                  <a:schemeClr val="tx1"/>
                </a:solidFill>
              </a:rPr>
              <a:t>Pure TypeScript, no I/O, no model. Integer paise, exact ratios, one half-up rounding.</a:t>
            </a:r>
            <a:endParaRPr lang="en-US" sz="1300" dirty="0"/>
          </a:p>
          <a:p>
            <a:pPr indent="0" marL="0">
              <a:spcAft>
                <a:spcPts val="300"/>
              </a:spcAft>
              <a:buNone/>
            </a:pPr>
            <a:r>
              <a:rPr lang="en-US" sz="1150" dirty="0">
                <a:solidFill>
                  <a:schemeClr val="tx1"/>
                </a:solidFill>
              </a:rPr>
              <a:t>A trace on every amount: rule, inputs, clause, formula, output, open assumptions.</a:t>
            </a:r>
            <a:endParaRPr lang="en-US" sz="1300" dirty="0"/>
          </a:p>
        </p:txBody>
      </p:sp>
      <p:sp>
        <p:nvSpPr>
          <p:cNvPr id="8" name="card Two wordings"/>
          <p:cNvSpPr/>
          <p:nvPr/>
        </p:nvSpPr>
        <p:spPr>
          <a:xfrm>
            <a:off x="6080760" y="1371600"/>
            <a:ext cx="2606040" cy="1554480"/>
          </a:xfrm>
          <a:prstGeom prst="roundRect">
            <a:avLst>
              <a:gd name="adj" fmla="val 4706"/>
            </a:avLst>
          </a:prstGeom>
          <a:solidFill>
            <a:schemeClr val="bg2"/>
          </a:solidFill>
          <a:ln w="9525">
            <a:solidFill>
              <a:schemeClr val="accent6"/>
            </a:solidFill>
            <a:prstDash val="solid"/>
          </a:ln>
        </p:spPr>
      </p:sp>
      <p:sp>
        <p:nvSpPr>
          <p:cNvPr id="9" name="card text Two wordings"/>
          <p:cNvSpPr txBox="1"/>
          <p:nvPr/>
        </p:nvSpPr>
        <p:spPr>
          <a:xfrm>
            <a:off x="6190488" y="1463040"/>
            <a:ext cx="2386584" cy="137160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Two wordings</a:t>
            </a:r>
            <a:endParaRPr lang="en-US" sz="1300" dirty="0"/>
          </a:p>
          <a:p>
            <a:pPr indent="0" marL="0">
              <a:spcAft>
                <a:spcPts val="300"/>
              </a:spcAft>
              <a:buNone/>
            </a:pPr>
            <a:r>
              <a:rPr lang="en-US" sz="1150" dirty="0">
                <a:solidFill>
                  <a:schemeClr val="tx1"/>
                </a:solidFill>
              </a:rPr>
              <a:t>Synthetic demo policy, plus Arogya Sanjeevani (New India, irdai.gov.in): ten clauses verbatim, checksum shown.</a:t>
            </a:r>
            <a:endParaRPr lang="en-US" sz="1300" dirty="0"/>
          </a:p>
          <a:p>
            <a:pPr indent="0" marL="0">
              <a:spcAft>
                <a:spcPts val="300"/>
              </a:spcAft>
              <a:buNone/>
            </a:pPr>
            <a:r>
              <a:rPr lang="en-US" sz="1150" dirty="0">
                <a:solidFill>
                  <a:schemeClr val="tx1"/>
                </a:solidFill>
              </a:rPr>
              <a:t>Partially encoded, labelled so.</a:t>
            </a:r>
            <a:endParaRPr lang="en-US" sz="1300" dirty="0"/>
          </a:p>
        </p:txBody>
      </p:sp>
      <p:sp>
        <p:nvSpPr>
          <p:cNvPr id="10" name="card AI, in its place"/>
          <p:cNvSpPr/>
          <p:nvPr/>
        </p:nvSpPr>
        <p:spPr>
          <a:xfrm>
            <a:off x="457200" y="3063240"/>
            <a:ext cx="2606040" cy="1554480"/>
          </a:xfrm>
          <a:prstGeom prst="roundRect">
            <a:avLst>
              <a:gd name="adj" fmla="val 4706"/>
            </a:avLst>
          </a:prstGeom>
          <a:solidFill>
            <a:schemeClr val="bg2"/>
          </a:solidFill>
          <a:ln w="9525">
            <a:solidFill>
              <a:schemeClr val="accent6"/>
            </a:solidFill>
            <a:prstDash val="solid"/>
          </a:ln>
        </p:spPr>
      </p:sp>
      <p:sp>
        <p:nvSpPr>
          <p:cNvPr id="11" name="card text AI, in its place"/>
          <p:cNvSpPr txBox="1"/>
          <p:nvPr/>
        </p:nvSpPr>
        <p:spPr>
          <a:xfrm>
            <a:off x="566928" y="3154680"/>
            <a:ext cx="2386584" cy="137160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AI, in its place</a:t>
            </a:r>
            <a:endParaRPr lang="en-US" sz="1300" dirty="0"/>
          </a:p>
          <a:p>
            <a:pPr indent="0" marL="0">
              <a:spcAft>
                <a:spcPts val="300"/>
              </a:spcAft>
              <a:buNone/>
            </a:pPr>
            <a:r>
              <a:rPr lang="en-US" sz="1150" dirty="0">
                <a:solidFill>
                  <a:schemeClr val="tx1"/>
                </a:solidFill>
              </a:rPr>
              <a:t>Ruleset builder: a model proposes rules with quotes; the engine verifies each quote verbatim; a person confirms.</a:t>
            </a:r>
            <a:endParaRPr lang="en-US" sz="1300" dirty="0"/>
          </a:p>
          <a:p>
            <a:pPr indent="0" marL="0">
              <a:spcAft>
                <a:spcPts val="300"/>
              </a:spcAft>
              <a:buNone/>
            </a:pPr>
            <a:r>
              <a:rPr lang="en-US" sz="1150" dirty="0">
                <a:solidFill>
                  <a:schemeClr val="tx1"/>
                </a:solidFill>
              </a:rPr>
              <a:t>Cached in this build; adapter off.</a:t>
            </a:r>
            <a:endParaRPr lang="en-US" sz="1300" dirty="0"/>
          </a:p>
        </p:txBody>
      </p:sp>
      <p:sp>
        <p:nvSpPr>
          <p:cNvPr id="12" name="card Quality"/>
          <p:cNvSpPr/>
          <p:nvPr/>
        </p:nvSpPr>
        <p:spPr>
          <a:xfrm>
            <a:off x="3268980" y="3063240"/>
            <a:ext cx="2606040" cy="1554480"/>
          </a:xfrm>
          <a:prstGeom prst="roundRect">
            <a:avLst>
              <a:gd name="adj" fmla="val 4706"/>
            </a:avLst>
          </a:prstGeom>
          <a:solidFill>
            <a:schemeClr val="bg2"/>
          </a:solidFill>
          <a:ln w="9525">
            <a:solidFill>
              <a:schemeClr val="accent6"/>
            </a:solidFill>
            <a:prstDash val="solid"/>
          </a:ln>
        </p:spPr>
      </p:sp>
      <p:sp>
        <p:nvSpPr>
          <p:cNvPr id="13" name="card text Quality"/>
          <p:cNvSpPr txBox="1"/>
          <p:nvPr/>
        </p:nvSpPr>
        <p:spPr>
          <a:xfrm>
            <a:off x="3378708" y="3154680"/>
            <a:ext cx="2386584" cy="137160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Quality</a:t>
            </a:r>
            <a:endParaRPr lang="en-US" sz="1300" dirty="0"/>
          </a:p>
          <a:p>
            <a:pPr indent="0" marL="0">
              <a:spcAft>
                <a:spcPts val="300"/>
              </a:spcAft>
              <a:buNone/>
            </a:pPr>
            <a:r>
              <a:rPr lang="en-US" sz="1150" dirty="0">
                <a:solidFill>
                  <a:schemeClr val="tx1"/>
                </a:solidFill>
              </a:rPr>
              <a:t>Vitest, 180 tests, test first. GitHub Actions on every PR.</a:t>
            </a:r>
            <a:endParaRPr lang="en-US" sz="1300" dirty="0"/>
          </a:p>
          <a:p>
            <a:pPr indent="0" marL="0">
              <a:spcAft>
                <a:spcPts val="300"/>
              </a:spcAft>
              <a:buNone/>
            </a:pPr>
            <a:r>
              <a:rPr lang="en-US" sz="1150" dirty="0">
                <a:solidFill>
                  <a:schemeClr val="tx1"/>
                </a:solidFill>
              </a:rPr>
              <a:t>Evaluation harness: six measures over two wordings, results committed and checked for staleness.</a:t>
            </a:r>
            <a:endParaRPr lang="en-US" sz="1300" dirty="0"/>
          </a:p>
        </p:txBody>
      </p:sp>
      <p:sp>
        <p:nvSpPr>
          <p:cNvPr id="14" name="card Runs anywhere"/>
          <p:cNvSpPr/>
          <p:nvPr/>
        </p:nvSpPr>
        <p:spPr>
          <a:xfrm>
            <a:off x="6080760" y="3063240"/>
            <a:ext cx="2606040" cy="1554480"/>
          </a:xfrm>
          <a:prstGeom prst="roundRect">
            <a:avLst>
              <a:gd name="adj" fmla="val 4706"/>
            </a:avLst>
          </a:prstGeom>
          <a:solidFill>
            <a:schemeClr val="bg2"/>
          </a:solidFill>
          <a:ln w="9525">
            <a:solidFill>
              <a:schemeClr val="accent6"/>
            </a:solidFill>
            <a:prstDash val="solid"/>
          </a:ln>
        </p:spPr>
      </p:sp>
      <p:sp>
        <p:nvSpPr>
          <p:cNvPr id="15" name="card text Runs anywhere"/>
          <p:cNvSpPr txBox="1"/>
          <p:nvPr/>
        </p:nvSpPr>
        <p:spPr>
          <a:xfrm>
            <a:off x="6190488" y="3154680"/>
            <a:ext cx="2386584" cy="1371600"/>
          </a:xfrm>
          <a:prstGeom prst="rect">
            <a:avLst/>
          </a:prstGeom>
          <a:noFill/>
          <a:ln/>
        </p:spPr>
        <p:txBody>
          <a:bodyPr wrap="square" lIns="0" tIns="0" rIns="0" bIns="0" rtlCol="0" anchor="t"/>
          <a:lstStyle/>
          <a:p>
            <a:pPr indent="0" marL="0">
              <a:spcAft>
                <a:spcPts val="400"/>
              </a:spcAft>
              <a:buNone/>
            </a:pPr>
            <a:r>
              <a:rPr lang="en-US" sz="1300" b="1" dirty="0">
                <a:solidFill>
                  <a:schemeClr val="accent5"/>
                </a:solidFill>
              </a:rPr>
              <a:t>Runs anywhere</a:t>
            </a:r>
            <a:endParaRPr lang="en-US" sz="1300" dirty="0"/>
          </a:p>
          <a:p>
            <a:pPr indent="0" marL="0">
              <a:spcAft>
                <a:spcPts val="300"/>
              </a:spcAft>
              <a:buNone/>
            </a:pPr>
            <a:r>
              <a:rPr lang="en-US" sz="1150" dirty="0">
                <a:solidFill>
                  <a:schemeClr val="tx1"/>
                </a:solidFill>
              </a:rPr>
              <a:t>One command, offline on localhost; fonts bundled; Vercel-ready.</a:t>
            </a:r>
            <a:endParaRPr lang="en-US" sz="1300" dirty="0"/>
          </a:p>
          <a:p>
            <a:pPr indent="0" marL="0">
              <a:spcAft>
                <a:spcPts val="300"/>
              </a:spcAft>
              <a:buNone/>
            </a:pPr>
            <a:r>
              <a:rPr lang="en-US" sz="1150" dirty="0">
                <a:solidFill>
                  <a:schemeClr val="tx1"/>
                </a:solidFill>
              </a:rPr>
              <a:t>Nothing the user enters leaves the browser. No key, no account, no analytics.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5"/>
                </a:solidFill>
              </a:rPr>
              <a:t>USP</a:t>
            </a:r>
            <a:endParaRPr lang="en-US" sz="11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t"/>
          <a:lstStyle/>
          <a:p>
            <a:pPr indent="0" marL="0">
              <a:buNone/>
            </a:pPr>
            <a:r>
              <a:rPr lang="en-US" sz="2600" b="1" dirty="0">
                <a:solidFill>
                  <a:schemeClr val="tx1"/>
                </a:solidFill>
              </a:rPr>
              <a:t>Item-level, clause-cited, honest about unknowns</a:t>
            </a:r>
            <a:endParaRPr lang="en-US" sz="2600" dirty="0"/>
          </a:p>
        </p:txBody>
      </p:sp>
      <p:pic>
        <p:nvPicPr>
          <p:cNvPr id="4" name="builder screenshot" descr="Ruleset builder: proposals with verbatim-quote checks and agreement badges">    </p:cNvPr>
          <p:cNvPicPr>
            <a:picLocks noChangeAspect="1"/>
          </p:cNvPicPr>
          <p:nvPr/>
        </p:nvPicPr>
        <p:blipFill>
          <a:blip r:embed="rId1"/>
          <a:stretch>
            <a:fillRect/>
          </a:stretch>
        </p:blipFill>
        <p:spPr>
          <a:xfrm>
            <a:off x="457200" y="1371600"/>
            <a:ext cx="2331720" cy="1632204"/>
          </a:xfrm>
          <a:prstGeom prst="rect">
            <a:avLst/>
          </a:prstGeom>
        </p:spPr>
      </p:pic>
      <p:pic>
        <p:nvPicPr>
          <p:cNvPr id="5" name="trace screenshot" descr="Trace drawer">    </p:cNvPr>
          <p:cNvPicPr>
            <a:picLocks noChangeAspect="1"/>
          </p:cNvPicPr>
          <p:nvPr/>
        </p:nvPicPr>
        <p:blipFill>
          <a:blip r:embed="rId2"/>
          <a:stretch>
            <a:fillRect/>
          </a:stretch>
        </p:blipFill>
        <p:spPr>
          <a:xfrm>
            <a:off x="457200" y="3108960"/>
            <a:ext cx="1097280" cy="1508760"/>
          </a:xfrm>
          <a:prstGeom prst="rect">
            <a:avLst/>
          </a:prstGeom>
        </p:spPr>
      </p:pic>
      <p:pic>
        <p:nvPicPr>
          <p:cNvPr id="6" name="real wording screenshot" descr="The real wording in the overview">    </p:cNvPr>
          <p:cNvPicPr>
            <a:picLocks noChangeAspect="1"/>
          </p:cNvPicPr>
          <p:nvPr/>
        </p:nvPicPr>
        <p:blipFill>
          <a:blip r:embed="rId3"/>
          <a:stretch>
            <a:fillRect/>
          </a:stretch>
        </p:blipFill>
        <p:spPr>
          <a:xfrm>
            <a:off x="1645920" y="3108960"/>
            <a:ext cx="1143000" cy="859536"/>
          </a:xfrm>
          <a:prstGeom prst="rect">
            <a:avLst/>
          </a:prstGeom>
        </p:spPr>
      </p:pic>
      <p:sp>
        <p:nvSpPr>
          <p:cNvPr id="7" name="pillar dot 1"/>
          <p:cNvSpPr/>
          <p:nvPr/>
        </p:nvSpPr>
        <p:spPr>
          <a:xfrm>
            <a:off x="3063240" y="1371600"/>
            <a:ext cx="274320" cy="274320"/>
          </a:xfrm>
          <a:prstGeom prst="ellipse">
            <a:avLst/>
          </a:prstGeom>
          <a:solidFill>
            <a:schemeClr val="accent1"/>
          </a:solidFill>
          <a:ln w="12700">
            <a:solidFill>
              <a:schemeClr val="accent1"/>
            </a:solidFill>
            <a:prstDash val="solid"/>
          </a:ln>
        </p:spPr>
      </p:sp>
      <p:sp>
        <p:nvSpPr>
          <p:cNvPr id="8" name="pillar number 1"/>
          <p:cNvSpPr txBox="1"/>
          <p:nvPr/>
        </p:nvSpPr>
        <p:spPr>
          <a:xfrm>
            <a:off x="3063240" y="137160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pillar text 1"/>
          <p:cNvSpPr txBox="1"/>
          <p:nvPr/>
        </p:nvSpPr>
        <p:spPr>
          <a:xfrm>
            <a:off x="3474720" y="1325880"/>
            <a:ext cx="5212080" cy="731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Every number is clickable</a:t>
            </a:r>
            <a:endParaRPr lang="en-US" sz="1400" dirty="0"/>
          </a:p>
          <a:p>
            <a:pPr indent="0" marL="0">
              <a:buNone/>
            </a:pPr>
            <a:r>
              <a:rPr lang="en-US" sz="1150" dirty="0">
                <a:solidFill>
                  <a:schemeClr val="tx2"/>
                </a:solidFill>
              </a:rPr>
              <a:t>Clause and page, inputs with where they came from, the formula, the operation. Tampered traces fail validation.</a:t>
            </a:r>
            <a:endParaRPr lang="en-US" sz="1400" dirty="0"/>
          </a:p>
        </p:txBody>
      </p:sp>
      <p:sp>
        <p:nvSpPr>
          <p:cNvPr id="10" name="pillar dot 2"/>
          <p:cNvSpPr/>
          <p:nvPr/>
        </p:nvSpPr>
        <p:spPr>
          <a:xfrm>
            <a:off x="3063240" y="2157984"/>
            <a:ext cx="274320" cy="274320"/>
          </a:xfrm>
          <a:prstGeom prst="ellipse">
            <a:avLst/>
          </a:prstGeom>
          <a:solidFill>
            <a:schemeClr val="accent1"/>
          </a:solidFill>
          <a:ln w="12700">
            <a:solidFill>
              <a:schemeClr val="accent1"/>
            </a:solidFill>
            <a:prstDash val="solid"/>
          </a:ln>
        </p:spPr>
      </p:sp>
      <p:sp>
        <p:nvSpPr>
          <p:cNvPr id="11" name="pillar number 2"/>
          <p:cNvSpPr txBox="1"/>
          <p:nvPr/>
        </p:nvSpPr>
        <p:spPr>
          <a:xfrm>
            <a:off x="3063240" y="215798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2" name="pillar text 2"/>
          <p:cNvSpPr txBox="1"/>
          <p:nvPr/>
        </p:nvSpPr>
        <p:spPr>
          <a:xfrm>
            <a:off x="3474720" y="2112264"/>
            <a:ext cx="5212080" cy="731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Unknown is never zero</a:t>
            </a:r>
            <a:endParaRPr lang="en-US" sz="1400" dirty="0"/>
          </a:p>
          <a:p>
            <a:pPr indent="0" marL="0">
              <a:buNone/>
            </a:pPr>
            <a:r>
              <a:rPr lang="en-US" sz="1150" dirty="0">
                <a:solidFill>
                  <a:schemeClr val="tx2"/>
                </a:solidFill>
              </a:rPr>
              <a:t>Items the wording does not classify stay out of every total. A conditional amount shows both bounds and the condition.</a:t>
            </a:r>
            <a:endParaRPr lang="en-US" sz="1400" dirty="0"/>
          </a:p>
        </p:txBody>
      </p:sp>
      <p:sp>
        <p:nvSpPr>
          <p:cNvPr id="13" name="pillar dot 3"/>
          <p:cNvSpPr/>
          <p:nvPr/>
        </p:nvSpPr>
        <p:spPr>
          <a:xfrm>
            <a:off x="3063240" y="2944368"/>
            <a:ext cx="274320" cy="274320"/>
          </a:xfrm>
          <a:prstGeom prst="ellipse">
            <a:avLst/>
          </a:prstGeom>
          <a:solidFill>
            <a:schemeClr val="accent1"/>
          </a:solidFill>
          <a:ln w="12700">
            <a:solidFill>
              <a:schemeClr val="accent1"/>
            </a:solidFill>
            <a:prstDash val="solid"/>
          </a:ln>
        </p:spPr>
      </p:sp>
      <p:sp>
        <p:nvSpPr>
          <p:cNvPr id="14" name="pillar number 3"/>
          <p:cNvSpPr txBox="1"/>
          <p:nvPr/>
        </p:nvSpPr>
        <p:spPr>
          <a:xfrm>
            <a:off x="3063240" y="29443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pillar text 3"/>
          <p:cNvSpPr txBox="1"/>
          <p:nvPr/>
        </p:nvSpPr>
        <p:spPr>
          <a:xfrm>
            <a:off x="3474720" y="2898648"/>
            <a:ext cx="5212080" cy="731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Change your room, see the difference</a:t>
            </a:r>
            <a:endParaRPr lang="en-US" sz="1400" dirty="0"/>
          </a:p>
          <a:p>
            <a:pPr indent="0" marL="0">
              <a:buNone/>
            </a:pPr>
            <a:r>
              <a:rPr lang="en-US" sz="1150" dirty="0">
                <a:solidFill>
                  <a:schemeClr val="tx2"/>
                </a:solidFill>
              </a:rPr>
              <a:t>Two rooms side by side, the rule behind every changed row; the room ladder and the question sheet turn it into a decision and a call script.</a:t>
            </a:r>
            <a:endParaRPr lang="en-US" sz="1400" dirty="0"/>
          </a:p>
        </p:txBody>
      </p:sp>
      <p:sp>
        <p:nvSpPr>
          <p:cNvPr id="16" name="pillar dot 4"/>
          <p:cNvSpPr/>
          <p:nvPr/>
        </p:nvSpPr>
        <p:spPr>
          <a:xfrm>
            <a:off x="3063240" y="3730752"/>
            <a:ext cx="274320" cy="274320"/>
          </a:xfrm>
          <a:prstGeom prst="ellipse">
            <a:avLst/>
          </a:prstGeom>
          <a:solidFill>
            <a:schemeClr val="accent1"/>
          </a:solidFill>
          <a:ln w="12700">
            <a:solidFill>
              <a:schemeClr val="accent1"/>
            </a:solidFill>
            <a:prstDash val="solid"/>
          </a:ln>
        </p:spPr>
      </p:sp>
      <p:sp>
        <p:nvSpPr>
          <p:cNvPr id="17" name="pillar number 4"/>
          <p:cNvSpPr txBox="1"/>
          <p:nvPr/>
        </p:nvSpPr>
        <p:spPr>
          <a:xfrm>
            <a:off x="3063240" y="373075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pillar text 4"/>
          <p:cNvSpPr txBox="1"/>
          <p:nvPr/>
        </p:nvSpPr>
        <p:spPr>
          <a:xfrm>
            <a:off x="3474720" y="3685032"/>
            <a:ext cx="5212080" cy="731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Proven on a real wording, honestly</a:t>
            </a:r>
            <a:endParaRPr lang="en-US" sz="1400" dirty="0"/>
          </a:p>
          <a:p>
            <a:pPr indent="0" marL="0">
              <a:buNone/>
            </a:pPr>
            <a:r>
              <a:rPr lang="en-US" sz="1150" dirty="0">
                <a:solidFill>
                  <a:schemeClr val="tx2"/>
                </a:solidFill>
              </a:rPr>
              <a:t>Arogya Sanjeevani, ten clauses verbatim with a checksum; where the 2019-20 text conflicts with IRDAI's 2020 norms, the engine says so.</a:t>
            </a:r>
            <a:endParaRPr lang="en-US" sz="1400" dirty="0"/>
          </a:p>
        </p:txBody>
      </p:sp>
      <p:sp>
        <p:nvSpPr>
          <p:cNvPr id="19" name="usp caption"/>
          <p:cNvSpPr txBox="1"/>
          <p:nvPr/>
        </p:nvSpPr>
        <p:spPr>
          <a:xfrm>
            <a:off x="3474720" y="4425696"/>
            <a:ext cx="5212080" cy="329184"/>
          </a:xfrm>
          <a:prstGeom prst="rect">
            <a:avLst/>
          </a:prstGeom>
          <a:noFill/>
          <a:ln/>
        </p:spPr>
        <p:txBody>
          <a:bodyPr wrap="square" lIns="0" tIns="0" rIns="0" bIns="0" rtlCol="0" anchor="ctr"/>
          <a:lstStyle/>
          <a:p>
            <a:pPr indent="0" marL="0">
              <a:buNone/>
            </a:pPr>
            <a:r>
              <a:rPr lang="en-US" sz="1000" i="1" dirty="0">
                <a:solidFill>
                  <a:schemeClr val="accent5"/>
                </a:solidFill>
              </a:rPr>
              <a:t>Bounded review of nine public sources: none did this. We do not claim nobody does; we claim we looked.</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5"/>
                </a:solidFill>
              </a:rPr>
              <a:t>IMPACT &amp; BENEFITS</a:t>
            </a:r>
            <a:endParaRPr lang="en-US" sz="11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t"/>
          <a:lstStyle/>
          <a:p>
            <a:pPr indent="0" marL="0">
              <a:buNone/>
            </a:pPr>
            <a:r>
              <a:rPr lang="en-US" sz="2600" b="1" dirty="0">
                <a:solidFill>
                  <a:schemeClr val="tx1"/>
                </a:solidFill>
              </a:rPr>
              <a:t>The room decision, made before admission</a:t>
            </a:r>
            <a:endParaRPr lang="en-US" sz="2600" dirty="0"/>
          </a:p>
        </p:txBody>
      </p:sp>
      <p:sp>
        <p:nvSpPr>
          <p:cNvPr id="4" name="card policyholder"/>
          <p:cNvSpPr/>
          <p:nvPr/>
        </p:nvSpPr>
        <p:spPr>
          <a:xfrm>
            <a:off x="457200" y="1371600"/>
            <a:ext cx="3840480" cy="1463040"/>
          </a:xfrm>
          <a:prstGeom prst="roundRect">
            <a:avLst>
              <a:gd name="adj" fmla="val 5000"/>
            </a:avLst>
          </a:prstGeom>
          <a:solidFill>
            <a:schemeClr val="bg2"/>
          </a:solidFill>
          <a:ln w="9525">
            <a:solidFill>
              <a:schemeClr val="accent6"/>
            </a:solidFill>
            <a:prstDash val="solid"/>
          </a:ln>
        </p:spPr>
      </p:sp>
      <p:sp>
        <p:nvSpPr>
          <p:cNvPr id="5" name="card text policyholder"/>
          <p:cNvSpPr txBox="1"/>
          <p:nvPr/>
        </p:nvSpPr>
        <p:spPr>
          <a:xfrm>
            <a:off x="566928" y="1463040"/>
            <a:ext cx="3621024" cy="1280160"/>
          </a:xfrm>
          <a:prstGeom prst="rect">
            <a:avLst/>
          </a:prstGeom>
          <a:noFill/>
          <a:ln/>
        </p:spPr>
        <p:txBody>
          <a:bodyPr wrap="square" lIns="0" tIns="0" rIns="0" bIns="0" rtlCol="0" anchor="t"/>
          <a:lstStyle/>
          <a:p>
            <a:pPr indent="0" marL="0">
              <a:spcAft>
                <a:spcPts val="400"/>
              </a:spcAft>
              <a:buNone/>
            </a:pPr>
            <a:r>
              <a:rPr lang="en-US" sz="1300" b="1" dirty="0">
                <a:solidFill>
                  <a:schemeClr val="accent3"/>
                </a:solidFill>
              </a:rPr>
              <a:t>For the policyholder</a:t>
            </a:r>
            <a:endParaRPr lang="en-US" sz="1300" dirty="0"/>
          </a:p>
          <a:p>
            <a:pPr indent="0" marL="0">
              <a:spcAft>
                <a:spcPts val="300"/>
              </a:spcAft>
              <a:buNone/>
            </a:pPr>
            <a:r>
              <a:rPr lang="en-US" sz="1150" dirty="0">
                <a:solidFill>
                  <a:schemeClr val="tx1"/>
                </a:solidFill>
              </a:rPr>
              <a:t>The room decision with its deductions visible before admission, not after.</a:t>
            </a:r>
            <a:endParaRPr lang="en-US" sz="1300" dirty="0"/>
          </a:p>
          <a:p>
            <a:pPr indent="0" marL="0">
              <a:spcAft>
                <a:spcPts val="300"/>
              </a:spcAft>
              <a:buNone/>
            </a:pPr>
            <a:r>
              <a:rPr lang="en-US" sz="1150" dirty="0">
                <a:solidFill>
                  <a:schemeClr val="tx1"/>
                </a:solidFill>
              </a:rPr>
              <a:t>Questions for the hospital and the insurer written out: what to ask, and what it is worth.</a:t>
            </a:r>
            <a:endParaRPr lang="en-US" sz="1300" dirty="0"/>
          </a:p>
        </p:txBody>
      </p:sp>
      <p:sp>
        <p:nvSpPr>
          <p:cNvPr id="6" name="card agent"/>
          <p:cNvSpPr/>
          <p:nvPr/>
        </p:nvSpPr>
        <p:spPr>
          <a:xfrm>
            <a:off x="457200" y="3017520"/>
            <a:ext cx="3840480" cy="1463040"/>
          </a:xfrm>
          <a:prstGeom prst="roundRect">
            <a:avLst>
              <a:gd name="adj" fmla="val 5000"/>
            </a:avLst>
          </a:prstGeom>
          <a:solidFill>
            <a:schemeClr val="bg2"/>
          </a:solidFill>
          <a:ln w="9525">
            <a:solidFill>
              <a:schemeClr val="accent6"/>
            </a:solidFill>
            <a:prstDash val="solid"/>
          </a:ln>
        </p:spPr>
      </p:sp>
      <p:sp>
        <p:nvSpPr>
          <p:cNvPr id="7" name="card text agent"/>
          <p:cNvSpPr txBox="1"/>
          <p:nvPr/>
        </p:nvSpPr>
        <p:spPr>
          <a:xfrm>
            <a:off x="566928" y="3108960"/>
            <a:ext cx="3621024" cy="1280160"/>
          </a:xfrm>
          <a:prstGeom prst="rect">
            <a:avLst/>
          </a:prstGeom>
          <a:noFill/>
          <a:ln/>
        </p:spPr>
        <p:txBody>
          <a:bodyPr wrap="square" lIns="0" tIns="0" rIns="0" bIns="0" rtlCol="0" anchor="t"/>
          <a:lstStyle/>
          <a:p>
            <a:pPr indent="0" marL="0">
              <a:spcAft>
                <a:spcPts val="400"/>
              </a:spcAft>
              <a:buNone/>
            </a:pPr>
            <a:r>
              <a:rPr lang="en-US" sz="1300" b="1" dirty="0">
                <a:solidFill>
                  <a:schemeClr val="accent3"/>
                </a:solidFill>
              </a:rPr>
              <a:t>For a broker's claim-assistance agent</a:t>
            </a:r>
            <a:endParaRPr lang="en-US" sz="1300" dirty="0"/>
          </a:p>
          <a:p>
            <a:pPr indent="0" marL="0">
              <a:spcAft>
                <a:spcPts val="300"/>
              </a:spcAft>
              <a:buNone/>
            </a:pPr>
            <a:r>
              <a:rPr lang="en-US" sz="1150" dirty="0">
                <a:solidFill>
                  <a:schemeClr val="tx1"/>
                </a:solidFill>
              </a:rPr>
              <a:t>The clause on screen during the call.</a:t>
            </a:r>
            <a:endParaRPr lang="en-US" sz="1300" dirty="0"/>
          </a:p>
          <a:p>
            <a:pPr indent="0" marL="0">
              <a:spcAft>
                <a:spcPts val="300"/>
              </a:spcAft>
              <a:buNone/>
            </a:pPr>
            <a:r>
              <a:rPr lang="en-US" sz="1150" dirty="0">
                <a:solidFill>
                  <a:schemeClr val="tx1"/>
                </a:solidFill>
              </a:rPr>
              <a:t>The uncertainty list is the call script; the trace is the written answer.</a:t>
            </a:r>
            <a:endParaRPr lang="en-US" sz="1300" dirty="0"/>
          </a:p>
        </p:txBody>
      </p:sp>
      <p:sp>
        <p:nvSpPr>
          <p:cNvPr id="8" name="pill Measured, not claimed"/>
          <p:cNvSpPr/>
          <p:nvPr/>
        </p:nvSpPr>
        <p:spPr>
          <a:xfrm>
            <a:off x="4572000" y="1371600"/>
            <a:ext cx="2011680" cy="274320"/>
          </a:xfrm>
          <a:prstGeom prst="roundRect">
            <a:avLst>
              <a:gd name="adj" fmla="val 50000"/>
            </a:avLst>
          </a:prstGeom>
          <a:solidFill>
            <a:schemeClr val="bg2"/>
          </a:solidFill>
          <a:ln w="9525">
            <a:solidFill>
              <a:schemeClr val="accent4"/>
            </a:solidFill>
            <a:prstDash val="solid"/>
          </a:ln>
        </p:spPr>
      </p:sp>
      <p:sp>
        <p:nvSpPr>
          <p:cNvPr id="9" name="pill text Measured, not claimed"/>
          <p:cNvSpPr txBox="1"/>
          <p:nvPr/>
        </p:nvSpPr>
        <p:spPr>
          <a:xfrm>
            <a:off x="4572000" y="1371600"/>
            <a:ext cx="2011680" cy="274320"/>
          </a:xfrm>
          <a:prstGeom prst="rect">
            <a:avLst/>
          </a:prstGeom>
          <a:noFill/>
          <a:ln/>
        </p:spPr>
        <p:txBody>
          <a:bodyPr wrap="square" lIns="0" tIns="0" rIns="0" bIns="0" rtlCol="0" anchor="ctr"/>
          <a:lstStyle/>
          <a:p>
            <a:pPr algn="ctr" indent="0" marL="0">
              <a:buNone/>
            </a:pPr>
            <a:r>
              <a:rPr lang="en-US" sz="1000" b="1" dirty="0">
                <a:solidFill>
                  <a:schemeClr val="accent4"/>
                </a:solidFill>
              </a:rPr>
              <a:t>Measured, not claimed</a:t>
            </a:r>
            <a:endParaRPr lang="en-US" sz="1000" dirty="0"/>
          </a:p>
        </p:txBody>
      </p:sp>
      <p:graphicFrame>
        <p:nvGraphicFramePr>
          <p:cNvPr id="7" name="evaluation table"/>
          <p:cNvGraphicFramePr>
            <a:graphicFrameLocks noGrp="1"/>
          </p:cNvGraphicFramePr>
          <p:nvPr>
            <p:extLst>
              <p:ext uri="{D42A27DB-BD31-4B8C-83A1-F6EECF244321}">
                <p14:modId xmlns:p14="http://schemas.microsoft.com/office/powerpoint/2010/main" val="1579011935"/>
              </p:ext>
            </p:extLst>
          </p:nvPr>
        </p:nvGraphicFramePr>
        <p:xfrm>
          <a:off x="4572000" y="1783080"/>
          <a:ext cx="4114800" cy="914400"/>
        </p:xfrm>
        <a:graphic>
          <a:graphicData uri="http://schemas.openxmlformats.org/drawingml/2006/table">
            <a:tbl>
              <a:tblPr/>
              <a:tblGrid>
                <a:gridCol w="2194560"/>
                <a:gridCol w="960120"/>
                <a:gridCol w="960120"/>
              </a:tblGrid>
              <a:tr h="274320">
                <a:tc>
                  <a:txBody>
                    <a:bodyPr/>
                    <a:lstStyle/>
                    <a:p>
                      <a:pPr indent="0" marL="0">
                        <a:buNone/>
                      </a:pPr>
                      <a:r>
                        <a:rPr lang="en-US" sz="950" b="1" dirty="0">
                          <a:solidFill>
                            <a:srgbClr val="1C1917"/>
                          </a:solidFill>
                          <a:latin typeface="Calibri" pitchFamily="34" charset="0"/>
                          <a:ea typeface="Calibri" pitchFamily="34" charset="-122"/>
                          <a:cs typeface="Calibri" pitchFamily="34" charset="-120"/>
                        </a:rPr>
                        <a:t>Measure</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b="1" dirty="0">
                          <a:solidFill>
                            <a:srgbClr val="1C1917"/>
                          </a:solidFill>
                          <a:latin typeface="Calibri" pitchFamily="34" charset="0"/>
                          <a:ea typeface="Calibri" pitchFamily="34" charset="-122"/>
                          <a:cs typeface="Calibri" pitchFamily="34" charset="-120"/>
                        </a:rPr>
                        <a:t>Synthetic</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b="1" dirty="0">
                          <a:solidFill>
                            <a:srgbClr val="1C1917"/>
                          </a:solidFill>
                          <a:latin typeface="Calibri" pitchFamily="34" charset="0"/>
                          <a:ea typeface="Calibri" pitchFamily="34" charset="-122"/>
                          <a:cs typeface="Calibri" pitchFamily="34" charset="-120"/>
                        </a:rPr>
                        <a:t>Real wording</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Clause retrieval, top-1</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11 of 12</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10 of 12</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Rule extraction, field-level</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10 of 10</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10 of 12</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Calculations, exact paise</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9 of 9 (46 amounts)</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3 of 3 (21 amounts)</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Uncertainty and refusal</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6 of 6</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3 of 3</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Model proposals: quotes verbatim (cached)</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6 of 6</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Model proposals: agree with reviewer (cached)</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950" dirty="0">
                          <a:solidFill>
                            <a:srgbClr val="1C1917"/>
                          </a:solidFill>
                          <a:latin typeface="Calibri" pitchFamily="34" charset="0"/>
                          <a:ea typeface="Calibri" pitchFamily="34" charset="-122"/>
                          <a:cs typeface="Calibri" pitchFamily="34" charset="-120"/>
                        </a:rPr>
                        <a:t>11 of 13</a:t>
                      </a:r>
                      <a:endParaRPr lang="en-US" sz="950" dirty="0">
                        <a:latin typeface="Calibri" charset="0"/>
                        <a:ea typeface="Calibri" charset="0"/>
                        <a:cs typeface="Calibri" charset="0"/>
                      </a:endParaRPr>
                    </a:p>
                  </a:txBody>
                  <a:tcPr marL="36576" marR="36576" marT="36576" marB="36576"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bl>
          </a:graphicData>
        </a:graphic>
      </p:graphicFrame>
      <p:sp>
        <p:nvSpPr>
          <p:cNvPr id="11" name="impact caption"/>
          <p:cNvSpPr txBox="1"/>
          <p:nvPr/>
        </p:nvSpPr>
        <p:spPr>
          <a:xfrm>
            <a:off x="4572000" y="3794760"/>
            <a:ext cx="4114800" cy="822960"/>
          </a:xfrm>
          <a:prstGeom prst="rect">
            <a:avLst/>
          </a:prstGeom>
          <a:noFill/>
          <a:ln/>
        </p:spPr>
        <p:txBody>
          <a:bodyPr wrap="square" lIns="0" tIns="0" rIns="0" bIns="0" rtlCol="0" anchor="t"/>
          <a:lstStyle/>
          <a:p>
            <a:pPr indent="0" marL="0">
              <a:buNone/>
            </a:pPr>
            <a:r>
              <a:rPr lang="en-US" sz="950" dirty="0">
                <a:solidFill>
                  <a:schemeClr val="tx2"/>
                </a:solidFill>
              </a:rPr>
              <a:t>Measured on the synthetic wording and on ten encoded clauses of one real wording; the model proposals are cached, not a live run. The product shows no accuracy figure anywhere. Figures on this slide are potential deductions covered by the simulation, never total out-of-pocket cost.</a:t>
            </a:r>
            <a:endParaRPr lang="en-US" sz="9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5"/>
                </a:solidFill>
              </a:rPr>
              <a:t>BUSINESS MODEL</a:t>
            </a:r>
            <a:endParaRPr lang="en-US" sz="1100" dirty="0"/>
          </a:p>
        </p:txBody>
      </p:sp>
      <p:sp>
        <p:nvSpPr>
          <p:cNvPr id="3" name="Text 0"/>
          <p:cNvSpPr/>
          <p:nvPr>
            <p:ph idx="101" type="title" hasCustomPrompt="1"/>
          </p:nvPr>
        </p:nvSpPr>
        <p:spPr>
          <a:xfrm>
            <a:off x="457200" y="530352"/>
            <a:ext cx="8229600" cy="685800"/>
          </a:xfrm>
          <a:prstGeom prst="rect">
            <a:avLst/>
          </a:prstGeom>
          <a:noFill/>
          <a:ln/>
        </p:spPr>
        <p:txBody>
          <a:bodyPr wrap="square" lIns="0" tIns="0" rIns="0" bIns="0" rtlCol="0" anchor="t"/>
          <a:lstStyle/>
          <a:p>
            <a:pPr indent="0" marL="0">
              <a:buNone/>
            </a:pPr>
            <a:r>
              <a:rPr lang="en-US" sz="2600" b="1" dirty="0">
                <a:solidFill>
                  <a:schemeClr val="tx1"/>
                </a:solidFill>
              </a:rPr>
              <a:t>Where it fits Paytm, and what must be tested</a:t>
            </a:r>
            <a:endParaRPr lang="en-US" sz="2600" dirty="0"/>
          </a:p>
        </p:txBody>
      </p:sp>
      <p:sp>
        <p:nvSpPr>
          <p:cNvPr id="4" name="pill Verified facts"/>
          <p:cNvSpPr/>
          <p:nvPr/>
        </p:nvSpPr>
        <p:spPr>
          <a:xfrm>
            <a:off x="457200" y="1371600"/>
            <a:ext cx="1463040" cy="274320"/>
          </a:xfrm>
          <a:prstGeom prst="roundRect">
            <a:avLst>
              <a:gd name="adj" fmla="val 50000"/>
            </a:avLst>
          </a:prstGeom>
          <a:solidFill>
            <a:schemeClr val="bg2"/>
          </a:solidFill>
          <a:ln w="9525">
            <a:solidFill>
              <a:schemeClr val="accent4"/>
            </a:solidFill>
            <a:prstDash val="solid"/>
          </a:ln>
        </p:spPr>
      </p:sp>
      <p:sp>
        <p:nvSpPr>
          <p:cNvPr id="5" name="pill text Verified facts"/>
          <p:cNvSpPr txBox="1"/>
          <p:nvPr/>
        </p:nvSpPr>
        <p:spPr>
          <a:xfrm>
            <a:off x="457200" y="1371600"/>
            <a:ext cx="1463040" cy="274320"/>
          </a:xfrm>
          <a:prstGeom prst="rect">
            <a:avLst/>
          </a:prstGeom>
          <a:noFill/>
          <a:ln/>
        </p:spPr>
        <p:txBody>
          <a:bodyPr wrap="square" lIns="0" tIns="0" rIns="0" bIns="0" rtlCol="0" anchor="ctr"/>
          <a:lstStyle/>
          <a:p>
            <a:pPr algn="ctr" indent="0" marL="0">
              <a:buNone/>
            </a:pPr>
            <a:r>
              <a:rPr lang="en-US" sz="1000" b="1" dirty="0">
                <a:solidFill>
                  <a:schemeClr val="accent4"/>
                </a:solidFill>
              </a:rPr>
              <a:t>Verified facts</a:t>
            </a:r>
            <a:endParaRPr lang="en-US" sz="1000" dirty="0"/>
          </a:p>
        </p:txBody>
      </p:sp>
      <p:sp>
        <p:nvSpPr>
          <p:cNvPr id="6" name="verified facts"/>
          <p:cNvSpPr txBox="1"/>
          <p:nvPr/>
        </p:nvSpPr>
        <p:spPr>
          <a:xfrm>
            <a:off x="457200" y="1737360"/>
            <a:ext cx="3931920" cy="28346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Paytm Insurance Broking Pvt Ltd is a Direct (Life &amp; General) broker: IRDAI Reg. No. 700, renewed 9 Feb 2026, valid to 16 Feb 2029.</a:t>
            </a:r>
            <a:endParaRPr lang="en-US" sz="1150" dirty="0"/>
          </a:p>
          <a:p>
            <a:pPr marL="342900" indent="-342900">
              <a:spcAft>
                <a:spcPts val="400"/>
              </a:spcAft>
              <a:buSzPct val="100000"/>
              <a:buChar char="•"/>
            </a:pPr>
            <a:r>
              <a:rPr lang="en-US" sz="1150" dirty="0">
                <a:solidFill>
                  <a:schemeClr val="tx1"/>
                </a:solidFill>
              </a:rPr>
              <a:t>It distributes car, two-wheeler, health, life and term policies from 18+ insurers, including Niva Bupa and Aditya Birla Health. It does not underwrite.</a:t>
            </a:r>
            <a:endParaRPr lang="en-US" sz="1150" dirty="0"/>
          </a:p>
          <a:p>
            <a:pPr marL="342900" indent="-342900">
              <a:spcAft>
                <a:spcPts val="400"/>
              </a:spcAft>
              <a:buSzPct val="100000"/>
              <a:buChar char="•"/>
            </a:pPr>
            <a:r>
              <a:rPr lang="en-US" sz="1150" dirty="0">
                <a:solidFill>
                  <a:schemeClr val="tx1"/>
                </a:solidFill>
              </a:rPr>
              <a:t>It already offers claim assistance by phone. Arogya Sanjeevani is IRDAI's standard product on one wording; one verified encoding serves every insurer that sells it.</a:t>
            </a:r>
            <a:endParaRPr lang="en-US" sz="1150" dirty="0"/>
          </a:p>
          <a:p>
            <a:pPr marL="342900" indent="-342900">
              <a:buSzPct val="100000"/>
              <a:buChar char="•"/>
            </a:pPr>
            <a:r>
              <a:rPr lang="en-US" sz="1150" dirty="0">
                <a:solidFill>
                  <a:schemeClr val="tx1"/>
                </a:solidFill>
              </a:rPr>
              <a:t>FY25 turnover ₹37.1 crore, loss ₹13.2 crore (Form AOC-1), inside a ₹2,593 crore financial-services line in FY26. Insurance is a small line for Paytm today; clarity is a wedge worth testing.</a:t>
            </a:r>
            <a:endParaRPr lang="en-US" sz="1150" dirty="0"/>
          </a:p>
        </p:txBody>
      </p:sp>
      <p:sp>
        <p:nvSpPr>
          <p:cNvPr id="7" name="pill Hypotheses, each with its test"/>
          <p:cNvSpPr/>
          <p:nvPr/>
        </p:nvSpPr>
        <p:spPr>
          <a:xfrm>
            <a:off x="4663440" y="1371600"/>
            <a:ext cx="2377440" cy="274320"/>
          </a:xfrm>
          <a:prstGeom prst="roundRect">
            <a:avLst>
              <a:gd name="adj" fmla="val 50000"/>
            </a:avLst>
          </a:prstGeom>
          <a:solidFill>
            <a:schemeClr val="bg2"/>
          </a:solidFill>
          <a:ln w="9525">
            <a:solidFill>
              <a:schemeClr val="accent1"/>
            </a:solidFill>
            <a:prstDash val="solid"/>
          </a:ln>
        </p:spPr>
      </p:sp>
      <p:sp>
        <p:nvSpPr>
          <p:cNvPr id="8" name="pill text Hypotheses, each with its test"/>
          <p:cNvSpPr txBox="1"/>
          <p:nvPr/>
        </p:nvSpPr>
        <p:spPr>
          <a:xfrm>
            <a:off x="4663440" y="1371600"/>
            <a:ext cx="2377440" cy="274320"/>
          </a:xfrm>
          <a:prstGeom prst="rect">
            <a:avLst/>
          </a:prstGeom>
          <a:noFill/>
          <a:ln/>
        </p:spPr>
        <p:txBody>
          <a:bodyPr wrap="square" lIns="0" tIns="0" rIns="0" bIns="0" rtlCol="0" anchor="ctr"/>
          <a:lstStyle/>
          <a:p>
            <a:pPr algn="ctr" indent="0" marL="0">
              <a:buNone/>
            </a:pPr>
            <a:r>
              <a:rPr lang="en-US" sz="1000" b="1" dirty="0">
                <a:solidFill>
                  <a:schemeClr val="accent1"/>
                </a:solidFill>
              </a:rPr>
              <a:t>Hypotheses, each with its test</a:t>
            </a:r>
            <a:endParaRPr lang="en-US" sz="1000" dirty="0"/>
          </a:p>
        </p:txBody>
      </p:sp>
      <p:graphicFrame>
        <p:nvGraphicFramePr>
          <p:cNvPr id="8" name="hypotheses table"/>
          <p:cNvGraphicFramePr>
            <a:graphicFrameLocks noGrp="1"/>
          </p:cNvGraphicFramePr>
          <p:nvPr>
            <p:extLst>
              <p:ext uri="{D42A27DB-BD31-4B8C-83A1-F6EECF244321}">
                <p14:modId xmlns:p14="http://schemas.microsoft.com/office/powerpoint/2010/main" val="1579011935"/>
              </p:ext>
            </p:extLst>
          </p:nvPr>
        </p:nvGraphicFramePr>
        <p:xfrm>
          <a:off x="4663440" y="1783080"/>
          <a:ext cx="4023360" cy="914400"/>
        </p:xfrm>
        <a:graphic>
          <a:graphicData uri="http://schemas.openxmlformats.org/drawingml/2006/table">
            <a:tbl>
              <a:tblPr/>
              <a:tblGrid>
                <a:gridCol w="2103120"/>
                <a:gridCol w="1920240"/>
              </a:tblGrid>
              <a:tr h="384048">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Hypothesis</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1000" b="1" dirty="0">
                          <a:solidFill>
                            <a:srgbClr val="1C1917"/>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C1917"/>
                          </a:solidFill>
                          <a:latin typeface="Calibri" pitchFamily="34" charset="0"/>
                          <a:ea typeface="Calibri" pitchFamily="34" charset="-122"/>
                          <a:cs typeface="Calibri" pitchFamily="34" charset="-120"/>
                        </a:rPr>
                        <a:t>Fewer claim-time support contacts and disputes</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1000" dirty="0">
                          <a:solidFill>
                            <a:srgbClr val="1C1917"/>
                          </a:solidFill>
                          <a:latin typeface="Calibri" pitchFamily="34" charset="0"/>
                          <a:ea typeface="Calibri" pitchFamily="34" charset="-122"/>
                          <a:cs typeface="Calibri" pitchFamily="34" charset="-120"/>
                        </a:rPr>
                        <a:t>Pilot cohort against a matched cohort</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C1917"/>
                          </a:solidFill>
                          <a:latin typeface="Calibri" pitchFamily="34" charset="0"/>
                          <a:ea typeface="Calibri" pitchFamily="34" charset="-122"/>
                          <a:cs typeface="Calibri" pitchFamily="34" charset="-120"/>
                        </a:rPr>
                        <a:t>More eligible-room choices when the consequence is visible</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1000" dirty="0">
                          <a:solidFill>
                            <a:srgbClr val="1C1917"/>
                          </a:solidFill>
                          <a:latin typeface="Calibri" pitchFamily="34" charset="0"/>
                          <a:ea typeface="Calibri" pitchFamily="34" charset="-122"/>
                          <a:cs typeface="Calibri" pitchFamily="34" charset="-120"/>
                        </a:rPr>
                        <a:t>Room-change rate in the simulator, then claims data</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C1917"/>
                          </a:solidFill>
                          <a:latin typeface="Calibri" pitchFamily="34" charset="0"/>
                          <a:ea typeface="Calibri" pitchFamily="34" charset="-122"/>
                          <a:cs typeface="Calibri" pitchFamily="34" charset="-120"/>
                        </a:rPr>
                        <a:t>Panel insurers co-fund a coverage-clarity tool</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1000" dirty="0">
                          <a:solidFill>
                            <a:srgbClr val="1C1917"/>
                          </a:solidFill>
                          <a:latin typeface="Calibri" pitchFamily="34" charset="0"/>
                          <a:ea typeface="Calibri" pitchFamily="34" charset="-122"/>
                          <a:cs typeface="Calibri" pitchFamily="34" charset="-120"/>
                        </a:rPr>
                        <a:t>Three conversations; one signed pilot letter is the pass</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C1917"/>
                          </a:solidFill>
                          <a:latin typeface="Calibri" pitchFamily="34" charset="0"/>
                          <a:ea typeface="Calibri" pitchFamily="34" charset="-122"/>
                          <a:cs typeface="Calibri" pitchFamily="34" charset="-120"/>
                        </a:rPr>
                        <a:t>A coverage check lifts conversion or renewal on the policy page</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c>
                  <a:txBody>
                    <a:bodyPr/>
                    <a:lstStyle/>
                    <a:p>
                      <a:pPr indent="0" marL="0">
                        <a:buNone/>
                      </a:pPr>
                      <a:r>
                        <a:rPr lang="en-US" sz="1000" dirty="0">
                          <a:solidFill>
                            <a:srgbClr val="1C1917"/>
                          </a:solidFill>
                          <a:latin typeface="Calibri" pitchFamily="34" charset="0"/>
                          <a:ea typeface="Calibri" pitchFamily="34" charset="-122"/>
                          <a:cs typeface="Calibri" pitchFamily="34" charset="-120"/>
                        </a:rPr>
                        <a:t>A/B test, if Paytm chooses to run one</a:t>
                      </a:r>
                      <a:endParaRPr lang="en-US" sz="1000" dirty="0">
                        <a:latin typeface="Calibri" charset="0"/>
                        <a:ea typeface="Calibri" charset="0"/>
                        <a:cs typeface="Calibri" charset="0"/>
                      </a:endParaRPr>
                    </a:p>
                  </a:txBody>
                  <a:tcPr marL="45720" marR="45720" marT="45720" marB="45720" anchor="ctr">
                    <a:lnL w="6350" cap="flat" cmpd="sng" algn="ctr">
                      <a:solidFill>
                        <a:srgbClr val="D6D3D1"/>
                      </a:solidFill>
                      <a:prstDash val="solid"/>
                      <a:round/>
                      <a:headEnd type="none" w="med" len="med"/>
                      <a:tailEnd type="none" w="med" len="med"/>
                    </a:lnL>
                    <a:lnR w="6350" cap="flat" cmpd="sng" algn="ctr">
                      <a:solidFill>
                        <a:srgbClr val="D6D3D1"/>
                      </a:solidFill>
                      <a:prstDash val="solid"/>
                      <a:round/>
                      <a:headEnd type="none" w="med" len="med"/>
                      <a:tailEnd type="none" w="med" len="med"/>
                    </a:lnR>
                    <a:lnT w="6350" cap="flat" cmpd="sng" algn="ctr">
                      <a:solidFill>
                        <a:srgbClr val="D6D3D1"/>
                      </a:solidFill>
                      <a:prstDash val="solid"/>
                      <a:round/>
                      <a:headEnd type="none" w="med" len="med"/>
                      <a:tailEnd type="none" w="med" len="med"/>
                    </a:lnT>
                    <a:lnB w="6350" cap="flat" cmpd="sng" algn="ctr">
                      <a:solidFill>
                        <a:srgbClr val="D6D3D1"/>
                      </a:solidFill>
                      <a:prstDash val="solid"/>
                      <a:round/>
                      <a:headEnd type="none" w="med" len="med"/>
                      <a:tailEnd type="none" w="med" len="med"/>
                    </a:lnB>
                    <a:solidFill>
                      <a:srgbClr val="FFFFFF"/>
                    </a:solidFill>
                  </a:tcPr>
                </a:tc>
              </a:tr>
            </a:tbl>
          </a:graphicData>
        </a:graphic>
      </p:graphicFrame>
      <p:sp>
        <p:nvSpPr>
          <p:cNvPr id="10" name="business caption"/>
          <p:cNvSpPr txBox="1"/>
          <p:nvPr/>
        </p:nvSpPr>
        <p:spPr>
          <a:xfrm>
            <a:off x="4663440" y="3840480"/>
            <a:ext cx="4023360" cy="777240"/>
          </a:xfrm>
          <a:prstGeom prst="rect">
            <a:avLst/>
          </a:prstGeom>
          <a:noFill/>
          <a:ln/>
        </p:spPr>
        <p:txBody>
          <a:bodyPr wrap="square" lIns="0" tIns="0" rIns="0" bIns="0" rtlCol="0" anchor="t"/>
          <a:lstStyle/>
          <a:p>
            <a:pPr indent="0" marL="0">
              <a:buNone/>
            </a:pPr>
            <a:r>
              <a:rPr lang="en-US" sz="1000" dirty="0">
                <a:solidFill>
                  <a:schemeClr val="tx2"/>
                </a:solidFill>
              </a:rPr>
              <a:t>Revenue options depend on those tests: a broker-side feature (retention), an insurer-paid integration, or a premium claim-assistance tier. No Paytm integration is claimed or built. Bima Sugam is not live; it belongs in the future tense.</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005840"/>
          </a:xfrm>
          <a:prstGeom prst="rect">
            <a:avLst/>
          </a:prstGeom>
          <a:noFill/>
          <a:ln/>
        </p:spPr>
        <p:txBody>
          <a:bodyPr wrap="square" lIns="0" tIns="0" rIns="0" bIns="0" rtlCol="0" anchor="b"/>
          <a:lstStyle/>
          <a:p>
            <a:pPr indent="0" marL="0">
              <a:buNone/>
            </a:pPr>
            <a:r>
              <a:rPr lang="en-US" sz="4000" b="1" dirty="0">
                <a:solidFill>
                  <a:schemeClr val="bg1"/>
                </a:solidFill>
              </a:rPr>
              <a:t>Built, tested, runs offline</a:t>
            </a:r>
            <a:endParaRPr lang="en-US" sz="4000" dirty="0"/>
          </a:p>
        </p:txBody>
      </p:sp>
      <p:sp>
        <p:nvSpPr>
          <p:cNvPr id="3" name="Text 0"/>
          <p:cNvSpPr/>
          <p:nvPr>
            <p:ph idx="101" type="body" hasCustomPrompt="1"/>
          </p:nvPr>
        </p:nvSpPr>
        <p:spPr>
          <a:xfrm>
            <a:off x="548640" y="2468880"/>
            <a:ext cx="8046720" cy="548640"/>
          </a:xfrm>
          <a:prstGeom prst="rect">
            <a:avLst/>
          </a:prstGeom>
          <a:noFill/>
          <a:ln/>
        </p:spPr>
        <p:txBody>
          <a:bodyPr wrap="square" lIns="0" tIns="0" rIns="0" bIns="0" rtlCol="0"/>
          <a:lstStyle/>
          <a:p>
            <a:pPr indent="0" marL="0">
              <a:buNone/>
            </a:pPr>
            <a:r>
              <a:rPr lang="en-US" sz="1800" dirty="0">
                <a:solidFill>
                  <a:schemeClr val="accent6"/>
                </a:solidFill>
              </a:rPr>
              <a:t>github.com/Pushkarmondal/paytm-hackathon · npm install &amp;&amp; npm run dev</a:t>
            </a:r>
            <a:endParaRPr lang="en-US" sz="1800" dirty="0"/>
          </a:p>
        </p:txBody>
      </p:sp>
      <p:sp>
        <p:nvSpPr>
          <p:cNvPr id="4" name="Text 0"/>
          <p:cNvSpPr/>
          <p:nvPr>
            <p:ph idx="102" type="body" hasCustomPrompt="1"/>
          </p:nvPr>
        </p:nvSpPr>
        <p:spPr>
          <a:xfrm>
            <a:off x="548640" y="3154680"/>
            <a:ext cx="8046720" cy="1371600"/>
          </a:xfrm>
          <a:prstGeom prst="rect">
            <a:avLst/>
          </a:prstGeom>
          <a:noFill/>
          <a:ln/>
        </p:spPr>
        <p:txBody>
          <a:bodyPr wrap="square" lIns="0" tIns="0" rIns="0" bIns="0" rtlCol="0" anchor="t"/>
          <a:lstStyle/>
          <a:p>
            <a:pPr indent="0" marL="0">
              <a:spcAft>
                <a:spcPts val="1000"/>
              </a:spcAft>
              <a:buNone/>
            </a:pPr>
            <a:r>
              <a:rPr lang="en-US" sz="1400" dirty="0">
                <a:solidFill>
                  <a:schemeClr val="accent6"/>
                </a:solidFill>
              </a:rPr>
              <a:t>180 unit tests · two wordings, one of them real · six evaluation measures · a ruleset builder where a model proposes and a person confirms · a trace on every number</a:t>
            </a:r>
            <a:endParaRPr lang="en-US" sz="1400" dirty="0"/>
          </a:p>
          <a:p>
            <a:pPr indent="0" marL="0">
              <a:buNone/>
            </a:pPr>
            <a:r>
              <a:rPr lang="en-US" sz="1400" dirty="0">
                <a:solidFill>
                  <a:schemeClr val="accent6"/>
                </a:solidFill>
              </a:rPr>
              <a:t>Next: a second real wording through the builder with the live adapter on; independent review of the evaluation fixtures; a four-week pilot at a broker's claim-assistance desk.</a:t>
            </a:r>
            <a:endParaRPr lang="en-US" sz="1400" dirty="0"/>
          </a:p>
        </p:txBody>
      </p:sp>
    </p:spTree>
  </p:cSld>
  <p:clrMapOvr>
    <a:masterClrMapping/>
  </p:clrMapOvr>
</p:sld>
</file>

<file path=ppt/theme/theme1.xml><?xml version="1.0" encoding="utf-8"?>
<a:theme xmlns:a="http://schemas.openxmlformats.org/drawingml/2006/main" name="Claim Sach">
  <a:themeElements>
    <a:clrScheme name="Claim Sach">
      <a:dk1>
        <a:srgbClr val="1C1917"/>
      </a:dk1>
      <a:lt1>
        <a:srgbClr val="FFFFFF"/>
      </a:lt1>
      <a:dk2>
        <a:srgbClr val="57534E"/>
      </a:dk2>
      <a:lt2>
        <a:srgbClr val="F5F5F4"/>
      </a:lt2>
      <a:accent1>
        <a:srgbClr val="B45309"/>
      </a:accent1>
      <a:accent2>
        <a:srgbClr val="6D28D9"/>
      </a:accent2>
      <a:accent3>
        <a:srgbClr val="0369A1"/>
      </a:accent3>
      <a:accent4>
        <a:srgbClr val="15803D"/>
      </a:accent4>
      <a:accent5>
        <a:srgbClr val="78716C"/>
      </a:accent5>
      <a:accent6>
        <a:srgbClr val="D6D3D1"/>
      </a:accent6>
      <a:hlink>
        <a:srgbClr val="0369A1"/>
      </a:hlink>
      <a:folHlink>
        <a:srgbClr val="6D28D9"/>
      </a:folHlink>
    </a:clrScheme>
    <a:fontScheme name="Claim Sa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 Sach: Coverage Twin</dc:title>
  <dc:subject>Paytm Build for India AI Hackathon, Bengaluru, 31 October 2026</dc:subject>
  <dc:creator>Pushkar Mondal</dc:creator>
  <cp:lastModifiedBy>Pushkar Mondal</cp:lastModifiedBy>
  <cp:revision>1</cp:revision>
  <dcterms:created xsi:type="dcterms:W3CDTF">2026-10-24T16:10:09Z</dcterms:created>
  <dcterms:modified xsi:type="dcterms:W3CDTF">2026-10-24T16:10:09Z</dcterms:modified>
</cp:coreProperties>
</file>