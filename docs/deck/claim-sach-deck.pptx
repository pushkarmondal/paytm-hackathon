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4276da25-b330-0f1e-4a42-fcb733c3e095}">
          <p14:sldIdLst>
            <p14:sldId id="256"/>
            <p14:sldId id="257"/>
            <p14:sldId id="258"/>
            <p14:sldId id="259"/>
            <p14:sldId id="260"/>
            <p14:sldId id="261"/>
            <p14:sldId id="262"/>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Sach, Coverage Twin, Track 2. One sentence: know what your policy might leave you paying before admission. It is a working prototype, not a concept: a deterministic rules engine with a trace on every number, tested, and it runs offline.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is well known in general and unknown in particular. Everyone has heard of room-rent limits; almost nobody can say which lines of their own bill the deduction touches, under their own wording. The numbers on the right are from the prototype's synthetic case: a ₹2,500 a day room gap becomes ₹48,000 of potential deductions, most of it on the surgery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workflow is six steps and the product is built around all six: documents become structured rules with the clause kept beside each rule, a scenario is simulated, the deductions are itemised, every number points at its clause, and what cannot be determined is said out loud. The screenshot is the live Coverage Twin: two rooms, same policy, same estimate; the amber rows are what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calculation is deterministic on purpose: an insurance number you cannot trace is worthless. AI is placed where it belongs, extracting candidate clauses from public wordings for a person to confirm, through an adapter that is off by default. The engine is pure TypeScript with integer-paise arithmetic, 124 tests written before the code, and an evaluation harness that keeps four measures separate.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differentiator is not the room-rent formula, which is public; it is that every statement is pinned to a clause, every unknown stays visible, and the comparison is live. The competitor claim is deliberately narrow: nine public sources, read on 24 October, none did this. We do not say nobody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Impact is stated as what the user gains, not as a market number we have not measured. The only figures are the evaluation results, with their dataset sizes, on the synthetic wording. That honesty is part of the product: the UI itself never shows an accuracy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regulatory fit is real and verified: a licensed direct broker that distributes health policies from many insurers, does not underwrite, and already assists claims by phone. The business case is four hypotheses with the test that would kill each one. We say plainly that insurance is a small line for Paytm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what exists today and the three next steps. Everything shown runs on a laptop with Wi-Fi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C191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00584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548640" y="2468880"/>
            <a:ext cx="8046720" cy="54864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
        <p:nvSpPr>
          <p:cNvPr id="4" name="Text 0"/>
          <p:cNvSpPr/>
          <p:nvPr>
            <p:ph idx="102" type="body" hasCustomPrompt="1"/>
          </p:nvPr>
        </p:nvSpPr>
        <p:spPr>
          <a:xfrm>
            <a:off x="548640" y="3154680"/>
            <a:ext cx="8046720" cy="1371600"/>
          </a:xfrm>
          <a:prstGeom prst="rect">
            <a:avLst/>
          </a:prstGeom>
          <a:noFill/>
          <a:ln/>
        </p:spPr>
        <p:txBody>
          <a:bodyPr wrap="square" rtlCol="0"/>
          <a:lstStyle>
            <a:lvl1pPr indent="0" marL="0">
              <a:buNone/>
              <a:defRPr lang="en-US" sz="1400" dirty="0">
                <a:solidFill>
                  <a:schemeClr val="accent6"/>
                </a:solidFill>
              </a:defRPr>
            </a:lvl1pPr>
          </a:lstStyle>
          <a:p>
            <a:pP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rtlCol="0"/>
          <a:lstStyle>
            <a:lvl1pPr indent="0" marL="0">
              <a:buNone/>
              <a:defRPr lang="en-US" sz="1100" b="1" dirty="0">
                <a:solidFill>
                  <a:schemeClr val="accent5"/>
                </a:solidFill>
              </a:defRPr>
            </a:lvl1pPr>
          </a:lstStyle>
          <a:p>
            <a:pPr indent="0" marL="0">
              <a:buNone/>
            </a:pPr>
            <a:endParaRPr lang="en-US" sz="1100" dirty="0"/>
          </a:p>
        </p:txBody>
      </p:sp>
      <p:sp>
        <p:nvSpPr>
          <p:cNvPr id="3" name="Text 0"/>
          <p:cNvSpPr/>
          <p:nvPr>
            <p:ph idx="101" type="title" hasCustomPrompt="1"/>
          </p:nvPr>
        </p:nvSpPr>
        <p:spPr>
          <a:xfrm>
            <a:off x="457200" y="530352"/>
            <a:ext cx="8229600" cy="685800"/>
          </a:xfrm>
          <a:prstGeom prst="rect">
            <a:avLst/>
          </a:prstGeom>
          <a:noFill/>
          <a:ln/>
        </p:spPr>
        <p:txBody>
          <a:bodyPr wrap="square" rtlCol="0"/>
          <a:lstStyle>
            <a:lvl1pPr indent="0" marL="0">
              <a:buNone/>
              <a:defRPr lang="en-US" sz="2600" b="1" dirty="0">
                <a:solidFill>
                  <a:schemeClr val="tx1"/>
                </a:solidFill>
              </a:defRPr>
            </a:lvl1pPr>
          </a:lstStyle>
          <a:p>
            <a:pPr indent="0" marL="0">
              <a:buNone/>
            </a:pPr>
            <a:endParaRPr lang="en-US" sz="2600" dirty="0"/>
          </a:p>
        </p:txBody>
      </p:sp>
      <p:sp>
        <p:nvSpPr>
          <p:cNvPr id="4" name="Text 0"/>
          <p:cNvSpPr txBox="1"/>
          <p:nvPr/>
        </p:nvSpPr>
        <p:spPr>
          <a:xfrm>
            <a:off x="457200" y="4773168"/>
            <a:ext cx="7498080" cy="228600"/>
          </a:xfrm>
          <a:prstGeom prst="rect">
            <a:avLst/>
          </a:prstGeom>
          <a:noFill/>
          <a:ln/>
        </p:spPr>
        <p:txBody>
          <a:bodyPr wrap="square" lIns="0" tIns="0" rIns="0" bIns="0" rtlCol="0" anchor="ctr"/>
          <a:lstStyle/>
          <a:p>
            <a:pPr indent="0" marL="0">
              <a:buNone/>
            </a:pPr>
            <a:r>
              <a:rPr lang="en-US" sz="900" dirty="0">
                <a:solidFill>
                  <a:schemeClr val="accent5"/>
                </a:solidFill>
              </a:rPr>
              <a:t>Claim Sach · Coverage Twin · Paytm Build for India AI Hackathon, Bengaluru, 31 Oct 2026</a:t>
            </a:r>
            <a:endParaRPr lang="en-US" sz="9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8716C"/>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8716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005840"/>
          </a:xfrm>
          <a:prstGeom prst="rect">
            <a:avLst/>
          </a:prstGeom>
          <a:noFill/>
          <a:ln/>
        </p:spPr>
        <p:txBody>
          <a:bodyPr wrap="square" lIns="0" tIns="0" rIns="0" bIns="0" rtlCol="0" anchor="b"/>
          <a:lstStyle/>
          <a:p>
            <a:pPr indent="0" marL="0">
              <a:buNone/>
            </a:pPr>
            <a:r>
              <a:rPr lang="en-US" sz="4000" b="1" dirty="0">
                <a:solidFill>
                  <a:schemeClr val="bg1"/>
                </a:solidFill>
              </a:rPr>
              <a:t>Claim Sach</a:t>
            </a:r>
            <a:endParaRPr lang="en-US" sz="4000" dirty="0"/>
          </a:p>
        </p:txBody>
      </p:sp>
      <p:sp>
        <p:nvSpPr>
          <p:cNvPr id="3" name="Text 0"/>
          <p:cNvSpPr/>
          <p:nvPr>
            <p:ph idx="101" type="body" hasCustomPrompt="1"/>
          </p:nvPr>
        </p:nvSpPr>
        <p:spPr>
          <a:xfrm>
            <a:off x="548640" y="2468880"/>
            <a:ext cx="8046720" cy="548640"/>
          </a:xfrm>
          <a:prstGeom prst="rect">
            <a:avLst/>
          </a:prstGeom>
          <a:noFill/>
          <a:ln/>
        </p:spPr>
        <p:txBody>
          <a:bodyPr wrap="square" lIns="0" tIns="0" rIns="0" bIns="0" rtlCol="0"/>
          <a:lstStyle/>
          <a:p>
            <a:pPr indent="0" marL="0">
              <a:buNone/>
            </a:pPr>
            <a:r>
              <a:rPr lang="en-US" sz="1800" dirty="0">
                <a:solidFill>
                  <a:schemeClr val="accent6"/>
                </a:solidFill>
              </a:rPr>
              <a:t>Coverage Twin · Track 2: AI-Powered Financial Journeys</a:t>
            </a:r>
            <a:endParaRPr lang="en-US" sz="1800" dirty="0"/>
          </a:p>
        </p:txBody>
      </p:sp>
      <p:sp>
        <p:nvSpPr>
          <p:cNvPr id="4" name="Text 0"/>
          <p:cNvSpPr/>
          <p:nvPr>
            <p:ph idx="102" type="body" hasCustomPrompt="1"/>
          </p:nvPr>
        </p:nvSpPr>
        <p:spPr>
          <a:xfrm>
            <a:off x="548640" y="3154680"/>
            <a:ext cx="8046720" cy="1371600"/>
          </a:xfrm>
          <a:prstGeom prst="rect">
            <a:avLst/>
          </a:prstGeom>
          <a:noFill/>
          <a:ln/>
        </p:spPr>
        <p:txBody>
          <a:bodyPr wrap="square" lIns="0" tIns="0" rIns="0" bIns="0" rtlCol="0" anchor="t"/>
          <a:lstStyle/>
          <a:p>
            <a:pPr indent="0" marL="0">
              <a:spcAft>
                <a:spcPts val="1000"/>
              </a:spcAft>
              <a:buNone/>
            </a:pPr>
            <a:r>
              <a:rPr lang="en-US" sz="1600" dirty="0">
                <a:solidFill>
                  <a:schemeClr val="bg1"/>
                </a:solidFill>
              </a:rPr>
              <a:t>Know what your policy might leave you paying before admission.</a:t>
            </a:r>
            <a:endParaRPr lang="en-US" sz="1400" dirty="0"/>
          </a:p>
          <a:p>
            <a:pPr indent="0" marL="0">
              <a:spcAft>
                <a:spcPts val="400"/>
              </a:spcAft>
              <a:buNone/>
            </a:pPr>
            <a:r>
              <a:rPr lang="en-US" sz="1400" dirty="0">
                <a:solidFill>
                  <a:schemeClr val="accent6"/>
                </a:solidFill>
              </a:rPr>
              <a:t>Pushkar Mondal · Paytm Build for India AI Hackathon, Bengaluru · October 2026</a:t>
            </a:r>
            <a:endParaRPr lang="en-US" sz="1400" dirty="0"/>
          </a:p>
          <a:p>
            <a:pPr indent="0" marL="0">
              <a:buNone/>
            </a:pPr>
            <a:r>
              <a:rPr lang="en-US" sz="1400" dirty="0">
                <a:solidFill>
                  <a:schemeClr val="accent6"/>
                </a:solidFill>
              </a:rPr>
              <a:t>A working prototype: deterministic engine, 124 tests, runs offline. github.com/Pushkarmondal/paytm-hackathon</a:t>
            </a:r>
            <a:endParaRPr lang="en-US" sz="1400" dirty="0"/>
          </a:p>
        </p:txBody>
      </p:sp>
      <p:sp>
        <p:nvSpPr>
          <p:cNvPr id="5" name="brand dot"/>
          <p:cNvSpPr/>
          <p:nvPr/>
        </p:nvSpPr>
        <p:spPr>
          <a:xfrm>
            <a:off x="548640" y="640080"/>
            <a:ext cx="201168" cy="201168"/>
          </a:xfrm>
          <a:prstGeom prst="ellipse">
            <a:avLst/>
          </a:prstGeom>
          <a:solidFill>
            <a:schemeClr val="accent2"/>
          </a:solidFill>
          <a:ln w="12700">
            <a:solidFill>
              <a:schemeClr val="accent2"/>
            </a:solidFill>
            <a:prstDash val="solid"/>
          </a:ln>
        </p:spPr>
      </p:sp>
      <p:sp>
        <p:nvSpPr>
          <p:cNvPr id="6" name="brand line"/>
          <p:cNvSpPr txBox="1"/>
          <p:nvPr/>
        </p:nvSpPr>
        <p:spPr>
          <a:xfrm>
            <a:off x="868680" y="566928"/>
            <a:ext cx="7315200" cy="347472"/>
          </a:xfrm>
          <a:prstGeom prst="rect">
            <a:avLst/>
          </a:prstGeom>
          <a:noFill/>
          <a:ln/>
        </p:spPr>
        <p:txBody>
          <a:bodyPr wrap="square" lIns="0" tIns="0" rIns="0" bIns="0" rtlCol="0" anchor="ctr"/>
          <a:lstStyle/>
          <a:p>
            <a:pPr indent="0" marL="0">
              <a:buNone/>
            </a:pPr>
            <a:r>
              <a:rPr lang="en-US" sz="1200" dirty="0">
                <a:solidFill>
                  <a:schemeClr val="accent6"/>
                </a:solidFill>
              </a:rPr>
              <a:t>Evidence-backed, interactive health-insurance coverage simulator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dirty="0">
                <a:solidFill>
                  <a:schemeClr val="accent5"/>
                </a:solidFill>
              </a:rPr>
              <a:t>PROBLEM STATEMENT</a:t>
            </a:r>
            <a:endParaRPr lang="en-US" sz="1100" dirty="0"/>
          </a:p>
        </p:txBody>
      </p:sp>
      <p:sp>
        <p:nvSpPr>
          <p:cNvPr id="3" name="Text 0"/>
          <p:cNvSpPr/>
          <p:nvPr>
            <p:ph idx="101" type="title" hasCustomPrompt="1"/>
          </p:nvPr>
        </p:nvSpPr>
        <p:spPr>
          <a:xfrm>
            <a:off x="457200" y="530352"/>
            <a:ext cx="8229600" cy="685800"/>
          </a:xfrm>
          <a:prstGeom prst="rect">
            <a:avLst/>
          </a:prstGeom>
          <a:noFill/>
          <a:ln/>
        </p:spPr>
        <p:txBody>
          <a:bodyPr wrap="square" lIns="0" tIns="0" rIns="0" bIns="0" rtlCol="0" anchor="t"/>
          <a:lstStyle/>
          <a:p>
            <a:pPr indent="0" marL="0">
              <a:buNone/>
            </a:pPr>
            <a:r>
              <a:rPr lang="en-US" sz="2600" b="1" dirty="0">
                <a:solidFill>
                  <a:schemeClr val="tx1"/>
                </a:solidFill>
              </a:rPr>
              <a:t>The policy's cost shows up at the hospital</a:t>
            </a:r>
            <a:endParaRPr lang="en-US" sz="2600" dirty="0"/>
          </a:p>
        </p:txBody>
      </p:sp>
      <p:sp>
        <p:nvSpPr>
          <p:cNvPr id="4" name="problem text"/>
          <p:cNvSpPr txBox="1"/>
          <p:nvPr/>
        </p:nvSpPr>
        <p:spPr>
          <a:xfrm>
            <a:off x="457200" y="1371600"/>
            <a:ext cx="4297680" cy="3200400"/>
          </a:xfrm>
          <a:prstGeom prst="rect">
            <a:avLst/>
          </a:prstGeom>
          <a:noFill/>
          <a:ln/>
        </p:spPr>
        <p:txBody>
          <a:bodyPr wrap="square" lIns="0" tIns="0" rIns="0" bIns="0" rtlCol="0" anchor="t"/>
          <a:lstStyle/>
          <a:p>
            <a:pPr indent="0" marL="0">
              <a:spcAft>
                <a:spcPts val="800"/>
              </a:spcAft>
              <a:buNone/>
            </a:pPr>
            <a:r>
              <a:rPr lang="en-US" sz="1400" dirty="0">
                <a:solidFill>
                  <a:schemeClr val="tx1"/>
                </a:solidFill>
              </a:rPr>
              <a:t>Room-rent limits, proportionate deductions, sub-limits and exclusions surface at admission, not at purchase.</a:t>
            </a:r>
            <a:endParaRPr lang="en-US" sz="1400" dirty="0"/>
          </a:p>
          <a:p>
            <a:pPr indent="0" marL="0">
              <a:spcAft>
                <a:spcPts val="800"/>
              </a:spcAft>
              <a:buNone/>
            </a:pPr>
            <a:r>
              <a:rPr lang="en-US" sz="1400" dirty="0">
                <a:solidFill>
                  <a:schemeClr val="tx1"/>
                </a:solidFill>
              </a:rPr>
              <a:t>The room-rent clause is the sharpest. Pick a room above the eligible rate and many policies pay the surgeon, anaesthetist, nursing and operation-theatre charges only in the proportion eligible ÷ actual rate. It is not about the room.</a:t>
            </a:r>
            <a:endParaRPr lang="en-US" sz="1400" dirty="0"/>
          </a:p>
          <a:p>
            <a:pPr indent="0" marL="0">
              <a:buNone/>
            </a:pPr>
            <a:r>
              <a:rPr lang="en-US" sz="1400" dirty="0">
                <a:solidFill>
                  <a:schemeClr val="tx1"/>
                </a:solidFill>
              </a:rPr>
              <a:t>Which items are touched depends on the policy's own definition. General explainers stop at the concept; the gap we are testing is applying your own wording to your own bill.</a:t>
            </a:r>
            <a:endParaRPr lang="en-US" sz="1400" dirty="0"/>
          </a:p>
        </p:txBody>
      </p:sp>
      <p:sp>
        <p:nvSpPr>
          <p:cNvPr id="5" name="stat card 1"/>
          <p:cNvSpPr/>
          <p:nvPr/>
        </p:nvSpPr>
        <p:spPr>
          <a:xfrm>
            <a:off x="5029200" y="1325880"/>
            <a:ext cx="3657600" cy="1005840"/>
          </a:xfrm>
          <a:prstGeom prst="roundRect">
            <a:avLst>
              <a:gd name="adj" fmla="val 7273"/>
            </a:avLst>
          </a:prstGeom>
          <a:solidFill>
            <a:schemeClr val="bg2"/>
          </a:solidFill>
          <a:ln w="9525">
            <a:solidFill>
              <a:schemeClr val="accent6"/>
            </a:solidFill>
            <a:prstDash val="solid"/>
          </a:ln>
        </p:spPr>
      </p:sp>
      <p:sp>
        <p:nvSpPr>
          <p:cNvPr id="6" name="stat big 1"/>
          <p:cNvSpPr txBox="1"/>
          <p:nvPr/>
        </p:nvSpPr>
        <p:spPr>
          <a:xfrm>
            <a:off x="5166360" y="1399032"/>
            <a:ext cx="3383280" cy="457200"/>
          </a:xfrm>
          <a:prstGeom prst="rect">
            <a:avLst/>
          </a:prstGeom>
          <a:noFill/>
          <a:ln/>
        </p:spPr>
        <p:txBody>
          <a:bodyPr wrap="square" lIns="0" tIns="0" rIns="0" bIns="0" rtlCol="0" anchor="ctr"/>
          <a:lstStyle/>
          <a:p>
            <a:pPr indent="0" marL="0">
              <a:buNone/>
            </a:pPr>
            <a:r>
              <a:rPr lang="en-US" sz="2400" b="1" dirty="0">
                <a:solidFill>
                  <a:schemeClr val="accent1"/>
                </a:solidFill>
              </a:rPr>
              <a:t>₹2,500 a day</a:t>
            </a:r>
            <a:endParaRPr lang="en-US" sz="2400" dirty="0"/>
          </a:p>
        </p:txBody>
      </p:sp>
      <p:sp>
        <p:nvSpPr>
          <p:cNvPr id="7" name="stat small 1"/>
          <p:cNvSpPr txBox="1"/>
          <p:nvPr/>
        </p:nvSpPr>
        <p:spPr>
          <a:xfrm>
            <a:off x="5166360" y="1828800"/>
            <a:ext cx="3383280" cy="457200"/>
          </a:xfrm>
          <a:prstGeom prst="rect">
            <a:avLst/>
          </a:prstGeom>
          <a:noFill/>
          <a:ln/>
        </p:spPr>
        <p:txBody>
          <a:bodyPr wrap="square" lIns="0" tIns="0" rIns="0" bIns="0" rtlCol="0" anchor="t"/>
          <a:lstStyle/>
          <a:p>
            <a:pPr indent="0" marL="0">
              <a:buNone/>
            </a:pPr>
            <a:r>
              <a:rPr lang="en-US" sz="1100" dirty="0">
                <a:solidFill>
                  <a:schemeClr val="tx2"/>
                </a:solidFill>
              </a:rPr>
              <a:t>the room-rent gap in our worked example: ₹7,500 chosen against ₹5,000 eligible</a:t>
            </a:r>
            <a:endParaRPr lang="en-US" sz="1100" dirty="0"/>
          </a:p>
        </p:txBody>
      </p:sp>
      <p:sp>
        <p:nvSpPr>
          <p:cNvPr id="8" name="stat card 2"/>
          <p:cNvSpPr/>
          <p:nvPr/>
        </p:nvSpPr>
        <p:spPr>
          <a:xfrm>
            <a:off x="5029200" y="2441448"/>
            <a:ext cx="3657600" cy="1005840"/>
          </a:xfrm>
          <a:prstGeom prst="roundRect">
            <a:avLst>
              <a:gd name="adj" fmla="val 7273"/>
            </a:avLst>
          </a:prstGeom>
          <a:solidFill>
            <a:schemeClr val="bg2"/>
          </a:solidFill>
          <a:ln w="9525">
            <a:solidFill>
              <a:schemeClr val="accent6"/>
            </a:solidFill>
            <a:prstDash val="solid"/>
          </a:ln>
        </p:spPr>
      </p:sp>
      <p:sp>
        <p:nvSpPr>
          <p:cNvPr id="9" name="stat big 2"/>
          <p:cNvSpPr txBox="1"/>
          <p:nvPr/>
        </p:nvSpPr>
        <p:spPr>
          <a:xfrm>
            <a:off x="5166360" y="2514600"/>
            <a:ext cx="3383280" cy="457200"/>
          </a:xfrm>
          <a:prstGeom prst="rect">
            <a:avLst/>
          </a:prstGeom>
          <a:noFill/>
          <a:ln/>
        </p:spPr>
        <p:txBody>
          <a:bodyPr wrap="square" lIns="0" tIns="0" rIns="0" bIns="0" rtlCol="0" anchor="ctr"/>
          <a:lstStyle/>
          <a:p>
            <a:pPr indent="0" marL="0">
              <a:buNone/>
            </a:pPr>
            <a:r>
              <a:rPr lang="en-US" sz="2400" b="1" dirty="0">
                <a:solidFill>
                  <a:schemeClr val="accent1"/>
                </a:solidFill>
              </a:rPr>
              <a:t>₹48,000</a:t>
            </a:r>
            <a:endParaRPr lang="en-US" sz="2400" dirty="0"/>
          </a:p>
        </p:txBody>
      </p:sp>
      <p:sp>
        <p:nvSpPr>
          <p:cNvPr id="10" name="stat small 2"/>
          <p:cNvSpPr txBox="1"/>
          <p:nvPr/>
        </p:nvSpPr>
        <p:spPr>
          <a:xfrm>
            <a:off x="5166360" y="2944368"/>
            <a:ext cx="3383280" cy="457200"/>
          </a:xfrm>
          <a:prstGeom prst="rect">
            <a:avLst/>
          </a:prstGeom>
          <a:noFill/>
          <a:ln/>
        </p:spPr>
        <p:txBody>
          <a:bodyPr wrap="square" lIns="0" tIns="0" rIns="0" bIns="0" rtlCol="0" anchor="t"/>
          <a:lstStyle/>
          <a:p>
            <a:pPr indent="0" marL="0">
              <a:buNone/>
            </a:pPr>
            <a:r>
              <a:rPr lang="en-US" sz="1100" dirty="0">
                <a:solidFill>
                  <a:schemeClr val="tx2"/>
                </a:solidFill>
              </a:rPr>
              <a:t>potential deductions from that one choice, ₹38,000 of it on items that are not the room</a:t>
            </a:r>
            <a:endParaRPr lang="en-US" sz="1100" dirty="0"/>
          </a:p>
        </p:txBody>
      </p:sp>
      <p:sp>
        <p:nvSpPr>
          <p:cNvPr id="11" name="stat card 3"/>
          <p:cNvSpPr/>
          <p:nvPr/>
        </p:nvSpPr>
        <p:spPr>
          <a:xfrm>
            <a:off x="5029200" y="3557016"/>
            <a:ext cx="3657600" cy="1005840"/>
          </a:xfrm>
          <a:prstGeom prst="roundRect">
            <a:avLst>
              <a:gd name="adj" fmla="val 7273"/>
            </a:avLst>
          </a:prstGeom>
          <a:solidFill>
            <a:schemeClr val="bg2"/>
          </a:solidFill>
          <a:ln w="9525">
            <a:solidFill>
              <a:schemeClr val="accent6"/>
            </a:solidFill>
            <a:prstDash val="solid"/>
          </a:ln>
        </p:spPr>
      </p:sp>
      <p:sp>
        <p:nvSpPr>
          <p:cNvPr id="12" name="stat big 3"/>
          <p:cNvSpPr txBox="1"/>
          <p:nvPr/>
        </p:nvSpPr>
        <p:spPr>
          <a:xfrm>
            <a:off x="5166360" y="3630168"/>
            <a:ext cx="3383280" cy="457200"/>
          </a:xfrm>
          <a:prstGeom prst="rect">
            <a:avLst/>
          </a:prstGeom>
          <a:noFill/>
          <a:ln/>
        </p:spPr>
        <p:txBody>
          <a:bodyPr wrap="square" lIns="0" tIns="0" rIns="0" bIns="0" rtlCol="0" anchor="ctr"/>
          <a:lstStyle/>
          <a:p>
            <a:pPr indent="0" marL="0">
              <a:buNone/>
            </a:pPr>
            <a:r>
              <a:rPr lang="en-US" sz="2400" b="1" dirty="0">
                <a:solidFill>
                  <a:schemeClr val="accent1"/>
                </a:solidFill>
              </a:rPr>
              <a:t>4 of 11 lines</a:t>
            </a:r>
            <a:endParaRPr lang="en-US" sz="2400" dirty="0"/>
          </a:p>
        </p:txBody>
      </p:sp>
      <p:sp>
        <p:nvSpPr>
          <p:cNvPr id="13" name="stat small 3"/>
          <p:cNvSpPr txBox="1"/>
          <p:nvPr/>
        </p:nvSpPr>
        <p:spPr>
          <a:xfrm>
            <a:off x="5166360" y="4059936"/>
            <a:ext cx="3383280" cy="457200"/>
          </a:xfrm>
          <a:prstGeom prst="rect">
            <a:avLst/>
          </a:prstGeom>
          <a:noFill/>
          <a:ln/>
        </p:spPr>
        <p:txBody>
          <a:bodyPr wrap="square" lIns="0" tIns="0" rIns="0" bIns="0" rtlCol="0" anchor="t"/>
          <a:lstStyle/>
          <a:p>
            <a:pPr indent="0" marL="0">
              <a:buNone/>
            </a:pPr>
            <a:r>
              <a:rPr lang="en-US" sz="1100" dirty="0">
                <a:solidFill>
                  <a:schemeClr val="tx2"/>
                </a:solidFill>
              </a:rPr>
              <a:t>affected under the policy's definition; 3 excluded by it; 2 the wording never classifies</a:t>
            </a:r>
            <a:endParaRPr lang="en-US" sz="1100" dirty="0"/>
          </a:p>
        </p:txBody>
      </p:sp>
      <p:sp>
        <p:nvSpPr>
          <p:cNvPr id="14" name="problem caption"/>
          <p:cNvSpPr txBox="1"/>
          <p:nvPr/>
        </p:nvSpPr>
        <p:spPr>
          <a:xfrm>
            <a:off x="457200" y="4480560"/>
            <a:ext cx="8229600" cy="256032"/>
          </a:xfrm>
          <a:prstGeom prst="rect">
            <a:avLst/>
          </a:prstGeom>
          <a:noFill/>
          <a:ln/>
        </p:spPr>
        <p:txBody>
          <a:bodyPr wrap="square" lIns="0" tIns="0" rIns="0" bIns="0" rtlCol="0" anchor="ctr"/>
          <a:lstStyle/>
          <a:p>
            <a:pPr indent="0" marL="0">
              <a:buNone/>
            </a:pPr>
            <a:r>
              <a:rPr lang="en-US" sz="1000" i="1" dirty="0">
                <a:solidFill>
                  <a:schemeClr val="accent5"/>
                </a:solidFill>
              </a:rPr>
              <a:t>Worked example on a synthetic policy and estimate, computed by the prototype. Not a market statistic.</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8716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dirty="0">
                <a:solidFill>
                  <a:schemeClr val="accent5"/>
                </a:solidFill>
              </a:rPr>
              <a:t>PROPOSED SOLUTION</a:t>
            </a:r>
            <a:endParaRPr lang="en-US" sz="1100" dirty="0"/>
          </a:p>
        </p:txBody>
      </p:sp>
      <p:sp>
        <p:nvSpPr>
          <p:cNvPr id="3" name="Text 0"/>
          <p:cNvSpPr/>
          <p:nvPr>
            <p:ph idx="101" type="title" hasCustomPrompt="1"/>
          </p:nvPr>
        </p:nvSpPr>
        <p:spPr>
          <a:xfrm>
            <a:off x="457200" y="530352"/>
            <a:ext cx="8229600" cy="685800"/>
          </a:xfrm>
          <a:prstGeom prst="rect">
            <a:avLst/>
          </a:prstGeom>
          <a:noFill/>
          <a:ln/>
        </p:spPr>
        <p:txBody>
          <a:bodyPr wrap="square" lIns="0" tIns="0" rIns="0" bIns="0" rtlCol="0" anchor="t"/>
          <a:lstStyle/>
          <a:p>
            <a:pPr indent="0" marL="0">
              <a:buNone/>
            </a:pPr>
            <a:r>
              <a:rPr lang="en-US" sz="2600" b="1" dirty="0">
                <a:solidFill>
                  <a:schemeClr val="tx1"/>
                </a:solidFill>
              </a:rPr>
              <a:t>Coverage Twin: your wording, your bill, live</a:t>
            </a:r>
            <a:endParaRPr lang="en-US" sz="2600" dirty="0"/>
          </a:p>
        </p:txBody>
      </p:sp>
      <p:sp>
        <p:nvSpPr>
          <p:cNvPr id="4" name="step 1"/>
          <p:cNvSpPr/>
          <p:nvPr/>
        </p:nvSpPr>
        <p:spPr>
          <a:xfrm>
            <a:off x="457200" y="1325880"/>
            <a:ext cx="1298448" cy="566928"/>
          </a:xfrm>
          <a:prstGeom prst="roundRect">
            <a:avLst>
              <a:gd name="adj" fmla="val 12903"/>
            </a:avLst>
          </a:prstGeom>
          <a:solidFill>
            <a:schemeClr val="bg2"/>
          </a:solidFill>
          <a:ln w="9525">
            <a:solidFill>
              <a:schemeClr val="accent6"/>
            </a:solidFill>
            <a:prstDash val="solid"/>
          </a:ln>
        </p:spPr>
      </p:sp>
      <p:sp>
        <p:nvSpPr>
          <p:cNvPr id="5" name="step text 1"/>
          <p:cNvSpPr txBox="1"/>
          <p:nvPr/>
        </p:nvSpPr>
        <p:spPr>
          <a:xfrm>
            <a:off x="512064" y="1325880"/>
            <a:ext cx="1188720" cy="566928"/>
          </a:xfrm>
          <a:prstGeom prst="rect">
            <a:avLst/>
          </a:prstGeom>
          <a:noFill/>
          <a:ln/>
        </p:spPr>
        <p:txBody>
          <a:bodyPr wrap="square" lIns="0" tIns="0" rIns="0" bIns="0" rtlCol="0" anchor="ctr"/>
          <a:lstStyle/>
          <a:p>
            <a:pPr algn="ctr" indent="0" marL="0">
              <a:buNone/>
            </a:pPr>
            <a:r>
              <a:rPr lang="en-US" sz="1050" b="1" dirty="0">
                <a:solidFill>
                  <a:schemeClr val="tx1"/>
                </a:solidFill>
              </a:rPr>
              <a:t>1  Policy documents</a:t>
            </a:r>
            <a:endParaRPr lang="en-US" sz="1050" dirty="0"/>
          </a:p>
        </p:txBody>
      </p:sp>
      <p:sp>
        <p:nvSpPr>
          <p:cNvPr id="6" name="step 2"/>
          <p:cNvSpPr/>
          <p:nvPr/>
        </p:nvSpPr>
        <p:spPr>
          <a:xfrm>
            <a:off x="1843430" y="1325880"/>
            <a:ext cx="1298448" cy="566928"/>
          </a:xfrm>
          <a:prstGeom prst="roundRect">
            <a:avLst>
              <a:gd name="adj" fmla="val 12903"/>
            </a:avLst>
          </a:prstGeom>
          <a:solidFill>
            <a:schemeClr val="bg2"/>
          </a:solidFill>
          <a:ln w="9525">
            <a:solidFill>
              <a:schemeClr val="accent6"/>
            </a:solidFill>
            <a:prstDash val="solid"/>
          </a:ln>
        </p:spPr>
      </p:sp>
      <p:sp>
        <p:nvSpPr>
          <p:cNvPr id="7" name="step text 2"/>
          <p:cNvSpPr txBox="1"/>
          <p:nvPr/>
        </p:nvSpPr>
        <p:spPr>
          <a:xfrm>
            <a:off x="1898294" y="1325880"/>
            <a:ext cx="1188720" cy="566928"/>
          </a:xfrm>
          <a:prstGeom prst="rect">
            <a:avLst/>
          </a:prstGeom>
          <a:noFill/>
          <a:ln/>
        </p:spPr>
        <p:txBody>
          <a:bodyPr wrap="square" lIns="0" tIns="0" rIns="0" bIns="0" rtlCol="0" anchor="ctr"/>
          <a:lstStyle/>
          <a:p>
            <a:pPr algn="ctr" indent="0" marL="0">
              <a:buNone/>
            </a:pPr>
            <a:r>
              <a:rPr lang="en-US" sz="1050" b="1" dirty="0">
                <a:solidFill>
                  <a:schemeClr val="tx1"/>
                </a:solidFill>
              </a:rPr>
              <a:t>2  Structured rules</a:t>
            </a:r>
            <a:endParaRPr lang="en-US" sz="1050" dirty="0"/>
          </a:p>
        </p:txBody>
      </p:sp>
      <p:sp>
        <p:nvSpPr>
          <p:cNvPr id="8" name="step 3"/>
          <p:cNvSpPr/>
          <p:nvPr/>
        </p:nvSpPr>
        <p:spPr>
          <a:xfrm>
            <a:off x="3229661" y="1325880"/>
            <a:ext cx="1298448" cy="566928"/>
          </a:xfrm>
          <a:prstGeom prst="roundRect">
            <a:avLst>
              <a:gd name="adj" fmla="val 12903"/>
            </a:avLst>
          </a:prstGeom>
          <a:solidFill>
            <a:schemeClr val="bg2"/>
          </a:solidFill>
          <a:ln w="9525">
            <a:solidFill>
              <a:schemeClr val="accent6"/>
            </a:solidFill>
            <a:prstDash val="solid"/>
          </a:ln>
        </p:spPr>
      </p:sp>
      <p:sp>
        <p:nvSpPr>
          <p:cNvPr id="9" name="step text 3"/>
          <p:cNvSpPr txBox="1"/>
          <p:nvPr/>
        </p:nvSpPr>
        <p:spPr>
          <a:xfrm>
            <a:off x="3284525" y="1325880"/>
            <a:ext cx="1188720" cy="566928"/>
          </a:xfrm>
          <a:prstGeom prst="rect">
            <a:avLst/>
          </a:prstGeom>
          <a:noFill/>
          <a:ln/>
        </p:spPr>
        <p:txBody>
          <a:bodyPr wrap="square" lIns="0" tIns="0" rIns="0" bIns="0" rtlCol="0" anchor="ctr"/>
          <a:lstStyle/>
          <a:p>
            <a:pPr algn="ctr" indent="0" marL="0">
              <a:buNone/>
            </a:pPr>
            <a:r>
              <a:rPr lang="en-US" sz="1050" b="1" dirty="0">
                <a:solidFill>
                  <a:schemeClr val="tx1"/>
                </a:solidFill>
              </a:rPr>
              <a:t>3  Scenario simulation</a:t>
            </a:r>
            <a:endParaRPr lang="en-US" sz="1050" dirty="0"/>
          </a:p>
        </p:txBody>
      </p:sp>
      <p:sp>
        <p:nvSpPr>
          <p:cNvPr id="10" name="step 4"/>
          <p:cNvSpPr/>
          <p:nvPr/>
        </p:nvSpPr>
        <p:spPr>
          <a:xfrm>
            <a:off x="4615891" y="1325880"/>
            <a:ext cx="1298448" cy="566928"/>
          </a:xfrm>
          <a:prstGeom prst="roundRect">
            <a:avLst>
              <a:gd name="adj" fmla="val 12903"/>
            </a:avLst>
          </a:prstGeom>
          <a:solidFill>
            <a:schemeClr val="tx1"/>
          </a:solidFill>
          <a:ln w="9525">
            <a:solidFill>
              <a:schemeClr val="tx1"/>
            </a:solidFill>
            <a:prstDash val="solid"/>
          </a:ln>
        </p:spPr>
      </p:sp>
      <p:sp>
        <p:nvSpPr>
          <p:cNvPr id="11" name="step text 4"/>
          <p:cNvSpPr txBox="1"/>
          <p:nvPr/>
        </p:nvSpPr>
        <p:spPr>
          <a:xfrm>
            <a:off x="4670755" y="1325880"/>
            <a:ext cx="1188720" cy="566928"/>
          </a:xfrm>
          <a:prstGeom prst="rect">
            <a:avLst/>
          </a:prstGeom>
          <a:noFill/>
          <a:ln/>
        </p:spPr>
        <p:txBody>
          <a:bodyPr wrap="square" lIns="0" tIns="0" rIns="0" bIns="0" rtlCol="0" anchor="ctr"/>
          <a:lstStyle/>
          <a:p>
            <a:pPr algn="ctr" indent="0" marL="0">
              <a:buNone/>
            </a:pPr>
            <a:r>
              <a:rPr lang="en-US" sz="1050" b="1" dirty="0">
                <a:solidFill>
                  <a:schemeClr val="bg1"/>
                </a:solidFill>
              </a:rPr>
              <a:t>4  Itemised potential deductions</a:t>
            </a:r>
            <a:endParaRPr lang="en-US" sz="1050" dirty="0"/>
          </a:p>
        </p:txBody>
      </p:sp>
      <p:sp>
        <p:nvSpPr>
          <p:cNvPr id="12" name="step 5"/>
          <p:cNvSpPr/>
          <p:nvPr/>
        </p:nvSpPr>
        <p:spPr>
          <a:xfrm>
            <a:off x="6002122" y="1325880"/>
            <a:ext cx="1298448" cy="566928"/>
          </a:xfrm>
          <a:prstGeom prst="roundRect">
            <a:avLst>
              <a:gd name="adj" fmla="val 12903"/>
            </a:avLst>
          </a:prstGeom>
          <a:solidFill>
            <a:schemeClr val="bg2"/>
          </a:solidFill>
          <a:ln w="9525">
            <a:solidFill>
              <a:schemeClr val="accent6"/>
            </a:solidFill>
            <a:prstDash val="solid"/>
          </a:ln>
        </p:spPr>
      </p:sp>
      <p:sp>
        <p:nvSpPr>
          <p:cNvPr id="13" name="step text 5"/>
          <p:cNvSpPr txBox="1"/>
          <p:nvPr/>
        </p:nvSpPr>
        <p:spPr>
          <a:xfrm>
            <a:off x="6056986" y="1325880"/>
            <a:ext cx="1188720" cy="566928"/>
          </a:xfrm>
          <a:prstGeom prst="rect">
            <a:avLst/>
          </a:prstGeom>
          <a:noFill/>
          <a:ln/>
        </p:spPr>
        <p:txBody>
          <a:bodyPr wrap="square" lIns="0" tIns="0" rIns="0" bIns="0" rtlCol="0" anchor="ctr"/>
          <a:lstStyle/>
          <a:p>
            <a:pPr algn="ctr" indent="0" marL="0">
              <a:buNone/>
            </a:pPr>
            <a:r>
              <a:rPr lang="en-US" sz="1050" b="1" dirty="0">
                <a:solidFill>
                  <a:schemeClr val="tx1"/>
                </a:solidFill>
              </a:rPr>
              <a:t>5  Source clause</a:t>
            </a:r>
            <a:endParaRPr lang="en-US" sz="1050" dirty="0"/>
          </a:p>
        </p:txBody>
      </p:sp>
      <p:sp>
        <p:nvSpPr>
          <p:cNvPr id="14" name="step 6"/>
          <p:cNvSpPr/>
          <p:nvPr/>
        </p:nvSpPr>
        <p:spPr>
          <a:xfrm>
            <a:off x="7388352" y="1325880"/>
            <a:ext cx="1298448" cy="566928"/>
          </a:xfrm>
          <a:prstGeom prst="roundRect">
            <a:avLst>
              <a:gd name="adj" fmla="val 12903"/>
            </a:avLst>
          </a:prstGeom>
          <a:solidFill>
            <a:schemeClr val="bg2"/>
          </a:solidFill>
          <a:ln w="9525">
            <a:solidFill>
              <a:schemeClr val="accent6"/>
            </a:solidFill>
            <a:prstDash val="solid"/>
          </a:ln>
        </p:spPr>
      </p:sp>
      <p:sp>
        <p:nvSpPr>
          <p:cNvPr id="15" name="step text 6"/>
          <p:cNvSpPr txBox="1"/>
          <p:nvPr/>
        </p:nvSpPr>
        <p:spPr>
          <a:xfrm>
            <a:off x="7443216" y="1325880"/>
            <a:ext cx="1188720" cy="566928"/>
          </a:xfrm>
          <a:prstGeom prst="rect">
            <a:avLst/>
          </a:prstGeom>
          <a:noFill/>
          <a:ln/>
        </p:spPr>
        <p:txBody>
          <a:bodyPr wrap="square" lIns="0" tIns="0" rIns="0" bIns="0" rtlCol="0" anchor="ctr"/>
          <a:lstStyle/>
          <a:p>
            <a:pPr algn="ctr" indent="0" marL="0">
              <a:buNone/>
            </a:pPr>
            <a:r>
              <a:rPr lang="en-US" sz="1050" b="1" dirty="0">
                <a:solidFill>
                  <a:schemeClr val="tx1"/>
                </a:solidFill>
              </a:rPr>
              <a:t>6  Explicit uncertainty</a:t>
            </a:r>
            <a:endParaRPr lang="en-US" sz="1050" dirty="0"/>
          </a:p>
        </p:txBody>
      </p:sp>
      <p:sp>
        <p:nvSpPr>
          <p:cNvPr id="16" name="solution text"/>
          <p:cNvSpPr txBox="1"/>
          <p:nvPr/>
        </p:nvSpPr>
        <p:spPr>
          <a:xfrm>
            <a:off x="457200" y="2103120"/>
            <a:ext cx="4023360" cy="2560320"/>
          </a:xfrm>
          <a:prstGeom prst="rect">
            <a:avLst/>
          </a:prstGeom>
          <a:noFill/>
          <a:ln/>
        </p:spPr>
        <p:txBody>
          <a:bodyPr wrap="square" lIns="0" tIns="0" rIns="0" bIns="0" rtlCol="0" anchor="t"/>
          <a:lstStyle/>
          <a:p>
            <a:pPr indent="0" marL="0">
              <a:spcAft>
                <a:spcPts val="600"/>
              </a:spcAft>
              <a:buNone/>
            </a:pPr>
            <a:r>
              <a:rPr lang="en-US" sz="1400" b="1" dirty="0">
                <a:solidFill>
                  <a:schemeClr val="tx1"/>
                </a:solidFill>
              </a:rPr>
              <a:t>What a judge does in three minutes</a:t>
            </a:r>
            <a:endParaRPr lang="en-US" sz="1250" dirty="0"/>
          </a:p>
          <a:p>
            <a:pPr marL="342900" indent="-342900">
              <a:spcAft>
                <a:spcPts val="300"/>
              </a:spcAft>
              <a:buSzPct val="100000"/>
              <a:buChar char="•"/>
            </a:pPr>
            <a:r>
              <a:rPr lang="en-US" sz="1250" dirty="0">
                <a:solidFill>
                  <a:schemeClr val="tx1"/>
                </a:solidFill>
              </a:rPr>
              <a:t>Open the example policy and estimate.</a:t>
            </a:r>
            <a:endParaRPr lang="en-US" sz="1250" dirty="0"/>
          </a:p>
          <a:p>
            <a:pPr marL="342900" indent="-342900">
              <a:spcAft>
                <a:spcPts val="300"/>
              </a:spcAft>
              <a:buSzPct val="100000"/>
              <a:buChar char="•"/>
            </a:pPr>
            <a:r>
              <a:rPr lang="en-US" sz="1250" dirty="0">
                <a:solidFill>
                  <a:schemeClr val="tx1"/>
                </a:solidFill>
              </a:rPr>
              <a:t>Change the room category or rate; the itemised breakdown updates at once.</a:t>
            </a:r>
            <a:endParaRPr lang="en-US" sz="1250" dirty="0"/>
          </a:p>
          <a:p>
            <a:pPr marL="342900" indent="-342900">
              <a:spcAft>
                <a:spcPts val="300"/>
              </a:spcAft>
              <a:buSzPct val="100000"/>
              <a:buChar char="•"/>
            </a:pPr>
            <a:r>
              <a:rPr lang="en-US" sz="1250" dirty="0">
                <a:solidFill>
                  <a:schemeClr val="tx1"/>
                </a:solidFill>
              </a:rPr>
              <a:t>Click any amount: its clause, page, inputs with provenance, formula.</a:t>
            </a:r>
            <a:endParaRPr lang="en-US" sz="1250" dirty="0"/>
          </a:p>
          <a:p>
            <a:pPr marL="342900" indent="-342900">
              <a:spcAft>
                <a:spcPts val="1000"/>
              </a:spcAft>
              <a:buSzPct val="100000"/>
              <a:buChar char="•"/>
            </a:pPr>
            <a:r>
              <a:rPr lang="en-US" sz="1250" dirty="0">
                <a:solidFill>
                  <a:schemeClr val="tx1"/>
                </a:solidFill>
              </a:rPr>
              <a:t>Open the uncertainty panel: what could not be established, and who can settle it.</a:t>
            </a:r>
            <a:endParaRPr lang="en-US" sz="1250" dirty="0"/>
          </a:p>
          <a:p>
            <a:pPr indent="0" marL="0">
              <a:buNone/>
            </a:pPr>
            <a:r>
              <a:rPr lang="en-US" sz="1250" i="1" dirty="0">
                <a:solidFill>
                  <a:schemeClr val="tx2"/>
                </a:solidFill>
              </a:rPr>
              <a:t>Not a chatbot. Not a payout guarantee. A scenario estimate of the deductions it covers, with its unknowns on screen.</a:t>
            </a:r>
            <a:endParaRPr lang="en-US" sz="1250" dirty="0"/>
          </a:p>
        </p:txBody>
      </p:sp>
      <p:pic>
        <p:nvPicPr>
          <p:cNvPr id="17" name="twin screenshot" descr="Coverage Twin screen: twin-sharing room against single private room, itemised potential deductions with states">    </p:cNvPr>
          <p:cNvPicPr>
            <a:picLocks noChangeAspect="1"/>
          </p:cNvPicPr>
          <p:nvPr/>
        </p:nvPicPr>
        <p:blipFill>
          <a:blip r:embed="rId1"/>
          <a:stretch>
            <a:fillRect/>
          </a:stretch>
        </p:blipFill>
        <p:spPr>
          <a:xfrm>
            <a:off x="4754880" y="2057400"/>
            <a:ext cx="3931920" cy="2948940"/>
          </a:xfrm>
          <a:prstGeom prst="rect">
            <a:avLst/>
          </a:prstGeom>
        </p:spPr>
      </p:pic>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8716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dirty="0">
                <a:solidFill>
                  <a:schemeClr val="accent5"/>
                </a:solidFill>
              </a:rPr>
              <a:t>TECHNOLOGY / TECH STACK</a:t>
            </a:r>
            <a:endParaRPr lang="en-US" sz="1100" dirty="0"/>
          </a:p>
        </p:txBody>
      </p:sp>
      <p:sp>
        <p:nvSpPr>
          <p:cNvPr id="3" name="Text 0"/>
          <p:cNvSpPr/>
          <p:nvPr>
            <p:ph idx="101" type="title" hasCustomPrompt="1"/>
          </p:nvPr>
        </p:nvSpPr>
        <p:spPr>
          <a:xfrm>
            <a:off x="457200" y="530352"/>
            <a:ext cx="8229600" cy="685800"/>
          </a:xfrm>
          <a:prstGeom prst="rect">
            <a:avLst/>
          </a:prstGeom>
          <a:noFill/>
          <a:ln/>
        </p:spPr>
        <p:txBody>
          <a:bodyPr wrap="square" lIns="0" tIns="0" rIns="0" bIns="0" rtlCol="0" anchor="t"/>
          <a:lstStyle/>
          <a:p>
            <a:pPr indent="0" marL="0">
              <a:buNone/>
            </a:pPr>
            <a:r>
              <a:rPr lang="en-US" sz="2600" b="1" dirty="0">
                <a:solidFill>
                  <a:schemeClr val="tx1"/>
                </a:solidFill>
              </a:rPr>
              <a:t>Deterministic engine, AI only with human review</a:t>
            </a:r>
            <a:endParaRPr lang="en-US" sz="2600" dirty="0"/>
          </a:p>
        </p:txBody>
      </p:sp>
      <p:sp>
        <p:nvSpPr>
          <p:cNvPr id="4" name="card Frontend"/>
          <p:cNvSpPr/>
          <p:nvPr/>
        </p:nvSpPr>
        <p:spPr>
          <a:xfrm>
            <a:off x="457200" y="1371600"/>
            <a:ext cx="2606040" cy="1554480"/>
          </a:xfrm>
          <a:prstGeom prst="roundRect">
            <a:avLst>
              <a:gd name="adj" fmla="val 4706"/>
            </a:avLst>
          </a:prstGeom>
          <a:solidFill>
            <a:schemeClr val="bg2"/>
          </a:solidFill>
          <a:ln w="9525">
            <a:solidFill>
              <a:schemeClr val="accent6"/>
            </a:solidFill>
            <a:prstDash val="solid"/>
          </a:ln>
        </p:spPr>
      </p:sp>
      <p:sp>
        <p:nvSpPr>
          <p:cNvPr id="5" name="card text Frontend"/>
          <p:cNvSpPr txBox="1"/>
          <p:nvPr/>
        </p:nvSpPr>
        <p:spPr>
          <a:xfrm>
            <a:off x="566928" y="1463040"/>
            <a:ext cx="2386584" cy="1371600"/>
          </a:xfrm>
          <a:prstGeom prst="rect">
            <a:avLst/>
          </a:prstGeom>
          <a:noFill/>
          <a:ln/>
        </p:spPr>
        <p:txBody>
          <a:bodyPr wrap="square" lIns="0" tIns="0" rIns="0" bIns="0" rtlCol="0" anchor="t"/>
          <a:lstStyle/>
          <a:p>
            <a:pPr indent="0" marL="0">
              <a:spcAft>
                <a:spcPts val="400"/>
              </a:spcAft>
              <a:buNone/>
            </a:pPr>
            <a:r>
              <a:rPr lang="en-US" sz="1300" b="1" dirty="0">
                <a:solidFill>
                  <a:schemeClr val="accent5"/>
                </a:solidFill>
              </a:rPr>
              <a:t>Frontend</a:t>
            </a:r>
            <a:endParaRPr lang="en-US" sz="1300" dirty="0"/>
          </a:p>
          <a:p>
            <a:pPr indent="0" marL="0">
              <a:spcAft>
                <a:spcPts val="300"/>
              </a:spcAft>
              <a:buNone/>
            </a:pPr>
            <a:r>
              <a:rPr lang="en-US" sz="1150" dirty="0">
                <a:solidFill>
                  <a:schemeClr val="tx1"/>
                </a:solidFill>
              </a:rPr>
              <a:t>TypeScript, strict. Next.js 16 (App Router), React 19, Tailwind 4.</a:t>
            </a:r>
            <a:endParaRPr lang="en-US" sz="1300" dirty="0"/>
          </a:p>
          <a:p>
            <a:pPr indent="0" marL="0">
              <a:spcAft>
                <a:spcPts val="300"/>
              </a:spcAft>
              <a:buNone/>
            </a:pPr>
            <a:r>
              <a:rPr lang="en-US" sz="1150" dirty="0">
                <a:solidFill>
                  <a:schemeClr val="tx1"/>
                </a:solidFill>
              </a:rPr>
              <a:t>Five screens on a tested screen model; no business logic in components.</a:t>
            </a:r>
            <a:endParaRPr lang="en-US" sz="1300" dirty="0"/>
          </a:p>
        </p:txBody>
      </p:sp>
      <p:sp>
        <p:nvSpPr>
          <p:cNvPr id="6" name="card Rules engine"/>
          <p:cNvSpPr/>
          <p:nvPr/>
        </p:nvSpPr>
        <p:spPr>
          <a:xfrm>
            <a:off x="3268980" y="1371600"/>
            <a:ext cx="2606040" cy="1554480"/>
          </a:xfrm>
          <a:prstGeom prst="roundRect">
            <a:avLst>
              <a:gd name="adj" fmla="val 4706"/>
            </a:avLst>
          </a:prstGeom>
          <a:solidFill>
            <a:schemeClr val="bg2"/>
          </a:solidFill>
          <a:ln w="9525">
            <a:solidFill>
              <a:schemeClr val="accent6"/>
            </a:solidFill>
            <a:prstDash val="solid"/>
          </a:ln>
        </p:spPr>
      </p:sp>
      <p:sp>
        <p:nvSpPr>
          <p:cNvPr id="7" name="card text Rules engine"/>
          <p:cNvSpPr txBox="1"/>
          <p:nvPr/>
        </p:nvSpPr>
        <p:spPr>
          <a:xfrm>
            <a:off x="3378708" y="1463040"/>
            <a:ext cx="2386584" cy="1371600"/>
          </a:xfrm>
          <a:prstGeom prst="rect">
            <a:avLst/>
          </a:prstGeom>
          <a:noFill/>
          <a:ln/>
        </p:spPr>
        <p:txBody>
          <a:bodyPr wrap="square" lIns="0" tIns="0" rIns="0" bIns="0" rtlCol="0" anchor="t"/>
          <a:lstStyle/>
          <a:p>
            <a:pPr indent="0" marL="0">
              <a:spcAft>
                <a:spcPts val="400"/>
              </a:spcAft>
              <a:buNone/>
            </a:pPr>
            <a:r>
              <a:rPr lang="en-US" sz="1300" b="1" dirty="0">
                <a:solidFill>
                  <a:schemeClr val="accent5"/>
                </a:solidFill>
              </a:rPr>
              <a:t>Rules engine</a:t>
            </a:r>
            <a:endParaRPr lang="en-US" sz="1300" dirty="0"/>
          </a:p>
          <a:p>
            <a:pPr indent="0" marL="0">
              <a:spcAft>
                <a:spcPts val="300"/>
              </a:spcAft>
              <a:buNone/>
            </a:pPr>
            <a:r>
              <a:rPr lang="en-US" sz="1150" dirty="0">
                <a:solidFill>
                  <a:schemeClr val="tx1"/>
                </a:solidFill>
              </a:rPr>
              <a:t>Pure TypeScript, no I/O, no model. Integer paise, exact ratios, one half-up rounding.</a:t>
            </a:r>
            <a:endParaRPr lang="en-US" sz="1300" dirty="0"/>
          </a:p>
          <a:p>
            <a:pPr indent="0" marL="0">
              <a:spcAft>
                <a:spcPts val="300"/>
              </a:spcAft>
              <a:buNone/>
            </a:pPr>
            <a:r>
              <a:rPr lang="en-US" sz="1150" dirty="0">
                <a:solidFill>
                  <a:schemeClr val="tx1"/>
                </a:solidFill>
              </a:rPr>
              <a:t>A trace on every amount: rule, inputs, clause, formula, output, open assumptions.</a:t>
            </a:r>
            <a:endParaRPr lang="en-US" sz="1300" dirty="0"/>
          </a:p>
        </p:txBody>
      </p:sp>
      <p:sp>
        <p:nvSpPr>
          <p:cNvPr id="8" name="card Data and ingestion"/>
          <p:cNvSpPr/>
          <p:nvPr/>
        </p:nvSpPr>
        <p:spPr>
          <a:xfrm>
            <a:off x="6080760" y="1371600"/>
            <a:ext cx="2606040" cy="1554480"/>
          </a:xfrm>
          <a:prstGeom prst="roundRect">
            <a:avLst>
              <a:gd name="adj" fmla="val 4706"/>
            </a:avLst>
          </a:prstGeom>
          <a:solidFill>
            <a:schemeClr val="bg2"/>
          </a:solidFill>
          <a:ln w="9525">
            <a:solidFill>
              <a:schemeClr val="accent6"/>
            </a:solidFill>
            <a:prstDash val="solid"/>
          </a:ln>
        </p:spPr>
      </p:sp>
      <p:sp>
        <p:nvSpPr>
          <p:cNvPr id="9" name="card text Data and ingestion"/>
          <p:cNvSpPr txBox="1"/>
          <p:nvPr/>
        </p:nvSpPr>
        <p:spPr>
          <a:xfrm>
            <a:off x="6190488" y="1463040"/>
            <a:ext cx="2386584" cy="1371600"/>
          </a:xfrm>
          <a:prstGeom prst="rect">
            <a:avLst/>
          </a:prstGeom>
          <a:noFill/>
          <a:ln/>
        </p:spPr>
        <p:txBody>
          <a:bodyPr wrap="square" lIns="0" tIns="0" rIns="0" bIns="0" rtlCol="0" anchor="t"/>
          <a:lstStyle/>
          <a:p>
            <a:pPr indent="0" marL="0">
              <a:spcAft>
                <a:spcPts val="400"/>
              </a:spcAft>
              <a:buNone/>
            </a:pPr>
            <a:r>
              <a:rPr lang="en-US" sz="1300" b="1" dirty="0">
                <a:solidFill>
                  <a:schemeClr val="accent5"/>
                </a:solidFill>
              </a:rPr>
              <a:t>Data and ingestion</a:t>
            </a:r>
            <a:endParaRPr lang="en-US" sz="1300" dirty="0"/>
          </a:p>
          <a:p>
            <a:pPr indent="0" marL="0">
              <a:spcAft>
                <a:spcPts val="300"/>
              </a:spcAft>
              <a:buNone/>
            </a:pPr>
            <a:r>
              <a:rPr lang="en-US" sz="1150" dirty="0">
                <a:solidFill>
                  <a:schemeClr val="tx1"/>
                </a:solidFill>
              </a:rPr>
              <a:t>No database. Synthetic fixture in the box. JSON and CSV uploads validated with Zod, read in the browser only.</a:t>
            </a:r>
            <a:endParaRPr lang="en-US" sz="1300" dirty="0"/>
          </a:p>
          <a:p>
            <a:pPr indent="0" marL="0">
              <a:spcAft>
                <a:spcPts val="300"/>
              </a:spcAft>
              <a:buNone/>
            </a:pPr>
            <a:r>
              <a:rPr lang="en-US" sz="1150" dirty="0">
                <a:solidFill>
                  <a:schemeClr val="tx1"/>
                </a:solidFill>
              </a:rPr>
              <a:t>A rule that misquotes its clause is refused.</a:t>
            </a:r>
            <a:endParaRPr lang="en-US" sz="1300" dirty="0"/>
          </a:p>
        </p:txBody>
      </p:sp>
      <p:sp>
        <p:nvSpPr>
          <p:cNvPr id="10" name="card AI, in its place"/>
          <p:cNvSpPr/>
          <p:nvPr/>
        </p:nvSpPr>
        <p:spPr>
          <a:xfrm>
            <a:off x="457200" y="3063240"/>
            <a:ext cx="2606040" cy="1554480"/>
          </a:xfrm>
          <a:prstGeom prst="roundRect">
            <a:avLst>
              <a:gd name="adj" fmla="val 4706"/>
            </a:avLst>
          </a:prstGeom>
          <a:solidFill>
            <a:schemeClr val="bg2"/>
          </a:solidFill>
          <a:ln w="9525">
            <a:solidFill>
              <a:schemeClr val="accent6"/>
            </a:solidFill>
            <a:prstDash val="solid"/>
          </a:ln>
        </p:spPr>
      </p:sp>
      <p:sp>
        <p:nvSpPr>
          <p:cNvPr id="11" name="card text AI, in its place"/>
          <p:cNvSpPr txBox="1"/>
          <p:nvPr/>
        </p:nvSpPr>
        <p:spPr>
          <a:xfrm>
            <a:off x="566928" y="3154680"/>
            <a:ext cx="2386584" cy="1371600"/>
          </a:xfrm>
          <a:prstGeom prst="rect">
            <a:avLst/>
          </a:prstGeom>
          <a:noFill/>
          <a:ln/>
        </p:spPr>
        <p:txBody>
          <a:bodyPr wrap="square" lIns="0" tIns="0" rIns="0" bIns="0" rtlCol="0" anchor="t"/>
          <a:lstStyle/>
          <a:p>
            <a:pPr indent="0" marL="0">
              <a:spcAft>
                <a:spcPts val="400"/>
              </a:spcAft>
              <a:buNone/>
            </a:pPr>
            <a:r>
              <a:rPr lang="en-US" sz="1300" b="1" dirty="0">
                <a:solidFill>
                  <a:schemeClr val="accent5"/>
                </a:solidFill>
              </a:rPr>
              <a:t>AI, in its place</a:t>
            </a:r>
            <a:endParaRPr lang="en-US" sz="1300" dirty="0"/>
          </a:p>
          <a:p>
            <a:pPr indent="0" marL="0">
              <a:spcAft>
                <a:spcPts val="300"/>
              </a:spcAft>
              <a:buNone/>
            </a:pPr>
            <a:r>
              <a:rPr lang="en-US" sz="1150" dirty="0">
                <a:solidFill>
                  <a:schemeClr val="tx1"/>
                </a:solidFill>
              </a:rPr>
              <a:t>Deterministic retriever and extractor propose candidate clauses for a human to confirm.</a:t>
            </a:r>
            <a:endParaRPr lang="en-US" sz="1300" dirty="0"/>
          </a:p>
          <a:p>
            <a:pPr indent="0" marL="0">
              <a:spcAft>
                <a:spcPts val="300"/>
              </a:spcAft>
              <a:buNone/>
            </a:pPr>
            <a:r>
              <a:rPr lang="en-US" sz="1150" dirty="0">
                <a:solidFill>
                  <a:schemeClr val="tx1"/>
                </a:solidFill>
              </a:rPr>
              <a:t>An LLM adapter seam, off by default; never in the calculation path; the demo needs no key.</a:t>
            </a:r>
            <a:endParaRPr lang="en-US" sz="1300" dirty="0"/>
          </a:p>
        </p:txBody>
      </p:sp>
      <p:sp>
        <p:nvSpPr>
          <p:cNvPr id="12" name="card Quality"/>
          <p:cNvSpPr/>
          <p:nvPr/>
        </p:nvSpPr>
        <p:spPr>
          <a:xfrm>
            <a:off x="3268980" y="3063240"/>
            <a:ext cx="2606040" cy="1554480"/>
          </a:xfrm>
          <a:prstGeom prst="roundRect">
            <a:avLst>
              <a:gd name="adj" fmla="val 4706"/>
            </a:avLst>
          </a:prstGeom>
          <a:solidFill>
            <a:schemeClr val="bg2"/>
          </a:solidFill>
          <a:ln w="9525">
            <a:solidFill>
              <a:schemeClr val="accent6"/>
            </a:solidFill>
            <a:prstDash val="solid"/>
          </a:ln>
        </p:spPr>
      </p:sp>
      <p:sp>
        <p:nvSpPr>
          <p:cNvPr id="13" name="card text Quality"/>
          <p:cNvSpPr txBox="1"/>
          <p:nvPr/>
        </p:nvSpPr>
        <p:spPr>
          <a:xfrm>
            <a:off x="3378708" y="3154680"/>
            <a:ext cx="2386584" cy="1371600"/>
          </a:xfrm>
          <a:prstGeom prst="rect">
            <a:avLst/>
          </a:prstGeom>
          <a:noFill/>
          <a:ln/>
        </p:spPr>
        <p:txBody>
          <a:bodyPr wrap="square" lIns="0" tIns="0" rIns="0" bIns="0" rtlCol="0" anchor="t"/>
          <a:lstStyle/>
          <a:p>
            <a:pPr indent="0" marL="0">
              <a:spcAft>
                <a:spcPts val="400"/>
              </a:spcAft>
              <a:buNone/>
            </a:pPr>
            <a:r>
              <a:rPr lang="en-US" sz="1300" b="1" dirty="0">
                <a:solidFill>
                  <a:schemeClr val="accent5"/>
                </a:solidFill>
              </a:rPr>
              <a:t>Quality</a:t>
            </a:r>
            <a:endParaRPr lang="en-US" sz="1300" dirty="0"/>
          </a:p>
          <a:p>
            <a:pPr indent="0" marL="0">
              <a:spcAft>
                <a:spcPts val="300"/>
              </a:spcAft>
              <a:buNone/>
            </a:pPr>
            <a:r>
              <a:rPr lang="en-US" sz="1150" dirty="0">
                <a:solidFill>
                  <a:schemeClr val="tx1"/>
                </a:solidFill>
              </a:rPr>
              <a:t>Vitest, 124 tests, test first. GitHub Actions on every PR.</a:t>
            </a:r>
            <a:endParaRPr lang="en-US" sz="1300" dirty="0"/>
          </a:p>
          <a:p>
            <a:pPr indent="0" marL="0">
              <a:spcAft>
                <a:spcPts val="300"/>
              </a:spcAft>
              <a:buNone/>
            </a:pPr>
            <a:r>
              <a:rPr lang="en-US" sz="1150" dirty="0">
                <a:solidFill>
                  <a:schemeClr val="tx1"/>
                </a:solidFill>
              </a:rPr>
              <a:t>Evaluation harness: four separate measures, results committed and checked for staleness.</a:t>
            </a:r>
            <a:endParaRPr lang="en-US" sz="1300" dirty="0"/>
          </a:p>
        </p:txBody>
      </p:sp>
      <p:sp>
        <p:nvSpPr>
          <p:cNvPr id="14" name="card Runs anywhere"/>
          <p:cNvSpPr/>
          <p:nvPr/>
        </p:nvSpPr>
        <p:spPr>
          <a:xfrm>
            <a:off x="6080760" y="3063240"/>
            <a:ext cx="2606040" cy="1554480"/>
          </a:xfrm>
          <a:prstGeom prst="roundRect">
            <a:avLst>
              <a:gd name="adj" fmla="val 4706"/>
            </a:avLst>
          </a:prstGeom>
          <a:solidFill>
            <a:schemeClr val="bg2"/>
          </a:solidFill>
          <a:ln w="9525">
            <a:solidFill>
              <a:schemeClr val="accent6"/>
            </a:solidFill>
            <a:prstDash val="solid"/>
          </a:ln>
        </p:spPr>
      </p:sp>
      <p:sp>
        <p:nvSpPr>
          <p:cNvPr id="15" name="card text Runs anywhere"/>
          <p:cNvSpPr txBox="1"/>
          <p:nvPr/>
        </p:nvSpPr>
        <p:spPr>
          <a:xfrm>
            <a:off x="6190488" y="3154680"/>
            <a:ext cx="2386584" cy="1371600"/>
          </a:xfrm>
          <a:prstGeom prst="rect">
            <a:avLst/>
          </a:prstGeom>
          <a:noFill/>
          <a:ln/>
        </p:spPr>
        <p:txBody>
          <a:bodyPr wrap="square" lIns="0" tIns="0" rIns="0" bIns="0" rtlCol="0" anchor="t"/>
          <a:lstStyle/>
          <a:p>
            <a:pPr indent="0" marL="0">
              <a:spcAft>
                <a:spcPts val="400"/>
              </a:spcAft>
              <a:buNone/>
            </a:pPr>
            <a:r>
              <a:rPr lang="en-US" sz="1300" b="1" dirty="0">
                <a:solidFill>
                  <a:schemeClr val="accent5"/>
                </a:solidFill>
              </a:rPr>
              <a:t>Runs anywhere</a:t>
            </a:r>
            <a:endParaRPr lang="en-US" sz="1300" dirty="0"/>
          </a:p>
          <a:p>
            <a:pPr indent="0" marL="0">
              <a:spcAft>
                <a:spcPts val="300"/>
              </a:spcAft>
              <a:buNone/>
            </a:pPr>
            <a:r>
              <a:rPr lang="en-US" sz="1150" dirty="0">
                <a:solidFill>
                  <a:schemeClr val="tx1"/>
                </a:solidFill>
              </a:rPr>
              <a:t>One command, offline on localhost; fonts bundled; Vercel-ready.</a:t>
            </a:r>
            <a:endParaRPr lang="en-US" sz="1300" dirty="0"/>
          </a:p>
          <a:p>
            <a:pPr indent="0" marL="0">
              <a:spcAft>
                <a:spcPts val="300"/>
              </a:spcAft>
              <a:buNone/>
            </a:pPr>
            <a:r>
              <a:rPr lang="en-US" sz="1150" dirty="0">
                <a:solidFill>
                  <a:schemeClr val="tx1"/>
                </a:solidFill>
              </a:rPr>
              <a:t>Nothing the user enters leaves the browser. No key, no account, no analytics.</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8716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dirty="0">
                <a:solidFill>
                  <a:schemeClr val="accent5"/>
                </a:solidFill>
              </a:rPr>
              <a:t>USP</a:t>
            </a:r>
            <a:endParaRPr lang="en-US" sz="1100" dirty="0"/>
          </a:p>
        </p:txBody>
      </p:sp>
      <p:sp>
        <p:nvSpPr>
          <p:cNvPr id="3" name="Text 0"/>
          <p:cNvSpPr/>
          <p:nvPr>
            <p:ph idx="101" type="title" hasCustomPrompt="1"/>
          </p:nvPr>
        </p:nvSpPr>
        <p:spPr>
          <a:xfrm>
            <a:off x="457200" y="530352"/>
            <a:ext cx="8229600" cy="685800"/>
          </a:xfrm>
          <a:prstGeom prst="rect">
            <a:avLst/>
          </a:prstGeom>
          <a:noFill/>
          <a:ln/>
        </p:spPr>
        <p:txBody>
          <a:bodyPr wrap="square" lIns="0" tIns="0" rIns="0" bIns="0" rtlCol="0" anchor="t"/>
          <a:lstStyle/>
          <a:p>
            <a:pPr indent="0" marL="0">
              <a:buNone/>
            </a:pPr>
            <a:r>
              <a:rPr lang="en-US" sz="2600" b="1" dirty="0">
                <a:solidFill>
                  <a:schemeClr val="tx1"/>
                </a:solidFill>
              </a:rPr>
              <a:t>Item-level, clause-cited, honest about unknowns</a:t>
            </a:r>
            <a:endParaRPr lang="en-US" sz="2600" dirty="0"/>
          </a:p>
        </p:txBody>
      </p:sp>
      <p:pic>
        <p:nvPicPr>
          <p:cNvPr id="4" name="trace screenshot" descr="Trace drawer: result as a range, plain-words explanation, the quoted clause, inputs with provenance">    </p:cNvPr>
          <p:cNvPicPr>
            <a:picLocks noChangeAspect="1"/>
          </p:cNvPicPr>
          <p:nvPr/>
        </p:nvPicPr>
        <p:blipFill>
          <a:blip r:embed="rId1"/>
          <a:stretch>
            <a:fillRect/>
          </a:stretch>
        </p:blipFill>
        <p:spPr>
          <a:xfrm>
            <a:off x="457200" y="1371600"/>
            <a:ext cx="2331720" cy="3200400"/>
          </a:xfrm>
          <a:prstGeom prst="rect">
            <a:avLst/>
          </a:prstGeom>
        </p:spPr>
      </p:pic>
      <p:sp>
        <p:nvSpPr>
          <p:cNvPr id="5" name="pillar dot 1"/>
          <p:cNvSpPr/>
          <p:nvPr/>
        </p:nvSpPr>
        <p:spPr>
          <a:xfrm>
            <a:off x="3063240" y="1371600"/>
            <a:ext cx="274320" cy="274320"/>
          </a:xfrm>
          <a:prstGeom prst="ellipse">
            <a:avLst/>
          </a:prstGeom>
          <a:solidFill>
            <a:schemeClr val="accent1"/>
          </a:solidFill>
          <a:ln w="12700">
            <a:solidFill>
              <a:schemeClr val="accent1"/>
            </a:solidFill>
            <a:prstDash val="solid"/>
          </a:ln>
        </p:spPr>
      </p:sp>
      <p:sp>
        <p:nvSpPr>
          <p:cNvPr id="6" name="pillar number 1"/>
          <p:cNvSpPr txBox="1"/>
          <p:nvPr/>
        </p:nvSpPr>
        <p:spPr>
          <a:xfrm>
            <a:off x="3063240" y="1371600"/>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7" name="pillar text 1"/>
          <p:cNvSpPr txBox="1"/>
          <p:nvPr/>
        </p:nvSpPr>
        <p:spPr>
          <a:xfrm>
            <a:off x="3474720" y="1325880"/>
            <a:ext cx="5212080" cy="731520"/>
          </a:xfrm>
          <a:prstGeom prst="rect">
            <a:avLst/>
          </a:prstGeom>
          <a:noFill/>
          <a:ln/>
        </p:spPr>
        <p:txBody>
          <a:bodyPr wrap="square" lIns="0" tIns="0" rIns="0" bIns="0" rtlCol="0" anchor="t"/>
          <a:lstStyle/>
          <a:p>
            <a:pPr indent="0" marL="0">
              <a:spcAft>
                <a:spcPts val="200"/>
              </a:spcAft>
              <a:buNone/>
            </a:pPr>
            <a:r>
              <a:rPr lang="en-US" sz="1400" b="1" dirty="0">
                <a:solidFill>
                  <a:schemeClr val="tx1"/>
                </a:solidFill>
              </a:rPr>
              <a:t>Every number is clickable</a:t>
            </a:r>
            <a:endParaRPr lang="en-US" sz="1400" dirty="0"/>
          </a:p>
          <a:p>
            <a:pPr indent="0" marL="0">
              <a:buNone/>
            </a:pPr>
            <a:r>
              <a:rPr lang="en-US" sz="1150" dirty="0">
                <a:solidFill>
                  <a:schemeClr val="tx2"/>
                </a:solidFill>
              </a:rPr>
              <a:t>Clause and page, inputs with where they came from, the formula, the operation. Tampered traces fail validation.</a:t>
            </a:r>
            <a:endParaRPr lang="en-US" sz="1400" dirty="0"/>
          </a:p>
        </p:txBody>
      </p:sp>
      <p:sp>
        <p:nvSpPr>
          <p:cNvPr id="8" name="pillar dot 2"/>
          <p:cNvSpPr/>
          <p:nvPr/>
        </p:nvSpPr>
        <p:spPr>
          <a:xfrm>
            <a:off x="3063240" y="2157984"/>
            <a:ext cx="274320" cy="274320"/>
          </a:xfrm>
          <a:prstGeom prst="ellipse">
            <a:avLst/>
          </a:prstGeom>
          <a:solidFill>
            <a:schemeClr val="accent1"/>
          </a:solidFill>
          <a:ln w="12700">
            <a:solidFill>
              <a:schemeClr val="accent1"/>
            </a:solidFill>
            <a:prstDash val="solid"/>
          </a:ln>
        </p:spPr>
      </p:sp>
      <p:sp>
        <p:nvSpPr>
          <p:cNvPr id="9" name="pillar number 2"/>
          <p:cNvSpPr txBox="1"/>
          <p:nvPr/>
        </p:nvSpPr>
        <p:spPr>
          <a:xfrm>
            <a:off x="3063240" y="2157984"/>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pillar text 2"/>
          <p:cNvSpPr txBox="1"/>
          <p:nvPr/>
        </p:nvSpPr>
        <p:spPr>
          <a:xfrm>
            <a:off x="3474720" y="2112264"/>
            <a:ext cx="5212080" cy="731520"/>
          </a:xfrm>
          <a:prstGeom prst="rect">
            <a:avLst/>
          </a:prstGeom>
          <a:noFill/>
          <a:ln/>
        </p:spPr>
        <p:txBody>
          <a:bodyPr wrap="square" lIns="0" tIns="0" rIns="0" bIns="0" rtlCol="0" anchor="t"/>
          <a:lstStyle/>
          <a:p>
            <a:pPr indent="0" marL="0">
              <a:spcAft>
                <a:spcPts val="200"/>
              </a:spcAft>
              <a:buNone/>
            </a:pPr>
            <a:r>
              <a:rPr lang="en-US" sz="1400" b="1" dirty="0">
                <a:solidFill>
                  <a:schemeClr val="tx1"/>
                </a:solidFill>
              </a:rPr>
              <a:t>Unknown is never zero</a:t>
            </a:r>
            <a:endParaRPr lang="en-US" sz="1400" dirty="0"/>
          </a:p>
          <a:p>
            <a:pPr indent="0" marL="0">
              <a:buNone/>
            </a:pPr>
            <a:r>
              <a:rPr lang="en-US" sz="1150" dirty="0">
                <a:solidFill>
                  <a:schemeClr val="tx2"/>
                </a:solidFill>
              </a:rPr>
              <a:t>Items the wording does not classify stay out of every total. A conditional amount shows both bounds and the condition.</a:t>
            </a:r>
            <a:endParaRPr lang="en-US" sz="1400" dirty="0"/>
          </a:p>
        </p:txBody>
      </p:sp>
      <p:sp>
        <p:nvSpPr>
          <p:cNvPr id="11" name="pillar dot 3"/>
          <p:cNvSpPr/>
          <p:nvPr/>
        </p:nvSpPr>
        <p:spPr>
          <a:xfrm>
            <a:off x="3063240" y="2944368"/>
            <a:ext cx="274320" cy="274320"/>
          </a:xfrm>
          <a:prstGeom prst="ellipse">
            <a:avLst/>
          </a:prstGeom>
          <a:solidFill>
            <a:schemeClr val="accent1"/>
          </a:solidFill>
          <a:ln w="12700">
            <a:solidFill>
              <a:schemeClr val="accent1"/>
            </a:solidFill>
            <a:prstDash val="solid"/>
          </a:ln>
        </p:spPr>
      </p:sp>
      <p:sp>
        <p:nvSpPr>
          <p:cNvPr id="12" name="pillar number 3"/>
          <p:cNvSpPr txBox="1"/>
          <p:nvPr/>
        </p:nvSpPr>
        <p:spPr>
          <a:xfrm>
            <a:off x="3063240" y="2944368"/>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3" name="pillar text 3"/>
          <p:cNvSpPr txBox="1"/>
          <p:nvPr/>
        </p:nvSpPr>
        <p:spPr>
          <a:xfrm>
            <a:off x="3474720" y="2898648"/>
            <a:ext cx="5212080" cy="731520"/>
          </a:xfrm>
          <a:prstGeom prst="rect">
            <a:avLst/>
          </a:prstGeom>
          <a:noFill/>
          <a:ln/>
        </p:spPr>
        <p:txBody>
          <a:bodyPr wrap="square" lIns="0" tIns="0" rIns="0" bIns="0" rtlCol="0" anchor="t"/>
          <a:lstStyle/>
          <a:p>
            <a:pPr indent="0" marL="0">
              <a:spcAft>
                <a:spcPts val="200"/>
              </a:spcAft>
              <a:buNone/>
            </a:pPr>
            <a:r>
              <a:rPr lang="en-US" sz="1400" b="1" dirty="0">
                <a:solidFill>
                  <a:schemeClr val="tx1"/>
                </a:solidFill>
              </a:rPr>
              <a:t>Change your room, see the difference</a:t>
            </a:r>
            <a:endParaRPr lang="en-US" sz="1400" dirty="0"/>
          </a:p>
          <a:p>
            <a:pPr indent="0" marL="0">
              <a:buNone/>
            </a:pPr>
            <a:r>
              <a:rPr lang="en-US" sz="1150" dirty="0">
                <a:solidFill>
                  <a:schemeClr val="tx2"/>
                </a:solidFill>
              </a:rPr>
              <a:t>Two rooms side by side on one policy and one estimate, with the rule behind every changed row.</a:t>
            </a:r>
            <a:endParaRPr lang="en-US" sz="1400" dirty="0"/>
          </a:p>
        </p:txBody>
      </p:sp>
      <p:sp>
        <p:nvSpPr>
          <p:cNvPr id="14" name="pillar dot 4"/>
          <p:cNvSpPr/>
          <p:nvPr/>
        </p:nvSpPr>
        <p:spPr>
          <a:xfrm>
            <a:off x="3063240" y="3730752"/>
            <a:ext cx="274320" cy="274320"/>
          </a:xfrm>
          <a:prstGeom prst="ellipse">
            <a:avLst/>
          </a:prstGeom>
          <a:solidFill>
            <a:schemeClr val="accent1"/>
          </a:solidFill>
          <a:ln w="12700">
            <a:solidFill>
              <a:schemeClr val="accent1"/>
            </a:solidFill>
            <a:prstDash val="solid"/>
          </a:ln>
        </p:spPr>
      </p:sp>
      <p:sp>
        <p:nvSpPr>
          <p:cNvPr id="15" name="pillar number 4"/>
          <p:cNvSpPr txBox="1"/>
          <p:nvPr/>
        </p:nvSpPr>
        <p:spPr>
          <a:xfrm>
            <a:off x="3063240" y="373075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6" name="pillar text 4"/>
          <p:cNvSpPr txBox="1"/>
          <p:nvPr/>
        </p:nvSpPr>
        <p:spPr>
          <a:xfrm>
            <a:off x="3474720" y="3685032"/>
            <a:ext cx="5212080" cy="731520"/>
          </a:xfrm>
          <a:prstGeom prst="rect">
            <a:avLst/>
          </a:prstGeom>
          <a:noFill/>
          <a:ln/>
        </p:spPr>
        <p:txBody>
          <a:bodyPr wrap="square" lIns="0" tIns="0" rIns="0" bIns="0" rtlCol="0" anchor="t"/>
          <a:lstStyle/>
          <a:p>
            <a:pPr indent="0" marL="0">
              <a:spcAft>
                <a:spcPts val="200"/>
              </a:spcAft>
              <a:buNone/>
            </a:pPr>
            <a:r>
              <a:rPr lang="en-US" sz="1400" b="1" dirty="0">
                <a:solidFill>
                  <a:schemeClr val="tx1"/>
                </a:solidFill>
              </a:rPr>
              <a:t>Honest scope</a:t>
            </a:r>
            <a:endParaRPr lang="en-US" sz="1400" dirty="0"/>
          </a:p>
          <a:p>
            <a:pPr indent="0" marL="0">
              <a:buNone/>
            </a:pPr>
            <a:r>
              <a:rPr lang="en-US" sz="1150" dirty="0">
                <a:solidFill>
                  <a:schemeClr val="tx2"/>
                </a:solidFill>
              </a:rPr>
              <a:t>The figure is the potential deductions covered by the simulation, never a total. Terms not modelled are listed on screen.</a:t>
            </a:r>
            <a:endParaRPr lang="en-US" sz="1400" dirty="0"/>
          </a:p>
        </p:txBody>
      </p:sp>
      <p:sp>
        <p:nvSpPr>
          <p:cNvPr id="17" name="usp caption"/>
          <p:cNvSpPr txBox="1"/>
          <p:nvPr/>
        </p:nvSpPr>
        <p:spPr>
          <a:xfrm>
            <a:off x="3474720" y="4425696"/>
            <a:ext cx="5212080" cy="329184"/>
          </a:xfrm>
          <a:prstGeom prst="rect">
            <a:avLst/>
          </a:prstGeom>
          <a:noFill/>
          <a:ln/>
        </p:spPr>
        <p:txBody>
          <a:bodyPr wrap="square" lIns="0" tIns="0" rIns="0" bIns="0" rtlCol="0" anchor="ctr"/>
          <a:lstStyle/>
          <a:p>
            <a:pPr indent="0" marL="0">
              <a:buNone/>
            </a:pPr>
            <a:r>
              <a:rPr lang="en-US" sz="1000" i="1" dirty="0">
                <a:solidFill>
                  <a:schemeClr val="accent5"/>
                </a:solidFill>
              </a:rPr>
              <a:t>Bounded review of nine public sources: none did this. We do not claim nobody does; we claim we looked.</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8716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dirty="0">
                <a:solidFill>
                  <a:schemeClr val="accent5"/>
                </a:solidFill>
              </a:rPr>
              <a:t>IMPACT &amp; BENEFITS</a:t>
            </a:r>
            <a:endParaRPr lang="en-US" sz="1100" dirty="0"/>
          </a:p>
        </p:txBody>
      </p:sp>
      <p:sp>
        <p:nvSpPr>
          <p:cNvPr id="3" name="Text 0"/>
          <p:cNvSpPr/>
          <p:nvPr>
            <p:ph idx="101" type="title" hasCustomPrompt="1"/>
          </p:nvPr>
        </p:nvSpPr>
        <p:spPr>
          <a:xfrm>
            <a:off x="457200" y="530352"/>
            <a:ext cx="8229600" cy="685800"/>
          </a:xfrm>
          <a:prstGeom prst="rect">
            <a:avLst/>
          </a:prstGeom>
          <a:noFill/>
          <a:ln/>
        </p:spPr>
        <p:txBody>
          <a:bodyPr wrap="square" lIns="0" tIns="0" rIns="0" bIns="0" rtlCol="0" anchor="t"/>
          <a:lstStyle/>
          <a:p>
            <a:pPr indent="0" marL="0">
              <a:buNone/>
            </a:pPr>
            <a:r>
              <a:rPr lang="en-US" sz="2600" b="1" dirty="0">
                <a:solidFill>
                  <a:schemeClr val="tx1"/>
                </a:solidFill>
              </a:rPr>
              <a:t>The room decision, made before admission</a:t>
            </a:r>
            <a:endParaRPr lang="en-US" sz="2600" dirty="0"/>
          </a:p>
        </p:txBody>
      </p:sp>
      <p:sp>
        <p:nvSpPr>
          <p:cNvPr id="4" name="card policyholder"/>
          <p:cNvSpPr/>
          <p:nvPr/>
        </p:nvSpPr>
        <p:spPr>
          <a:xfrm>
            <a:off x="457200" y="1371600"/>
            <a:ext cx="3840480" cy="1463040"/>
          </a:xfrm>
          <a:prstGeom prst="roundRect">
            <a:avLst>
              <a:gd name="adj" fmla="val 5000"/>
            </a:avLst>
          </a:prstGeom>
          <a:solidFill>
            <a:schemeClr val="bg2"/>
          </a:solidFill>
          <a:ln w="9525">
            <a:solidFill>
              <a:schemeClr val="accent6"/>
            </a:solidFill>
            <a:prstDash val="solid"/>
          </a:ln>
        </p:spPr>
      </p:sp>
      <p:sp>
        <p:nvSpPr>
          <p:cNvPr id="5" name="card text policyholder"/>
          <p:cNvSpPr txBox="1"/>
          <p:nvPr/>
        </p:nvSpPr>
        <p:spPr>
          <a:xfrm>
            <a:off x="566928" y="1463040"/>
            <a:ext cx="3621024" cy="1280160"/>
          </a:xfrm>
          <a:prstGeom prst="rect">
            <a:avLst/>
          </a:prstGeom>
          <a:noFill/>
          <a:ln/>
        </p:spPr>
        <p:txBody>
          <a:bodyPr wrap="square" lIns="0" tIns="0" rIns="0" bIns="0" rtlCol="0" anchor="t"/>
          <a:lstStyle/>
          <a:p>
            <a:pPr indent="0" marL="0">
              <a:spcAft>
                <a:spcPts val="400"/>
              </a:spcAft>
              <a:buNone/>
            </a:pPr>
            <a:r>
              <a:rPr lang="en-US" sz="1300" b="1" dirty="0">
                <a:solidFill>
                  <a:schemeClr val="accent3"/>
                </a:solidFill>
              </a:rPr>
              <a:t>For the policyholder</a:t>
            </a:r>
            <a:endParaRPr lang="en-US" sz="1300" dirty="0"/>
          </a:p>
          <a:p>
            <a:pPr indent="0" marL="0">
              <a:spcAft>
                <a:spcPts val="300"/>
              </a:spcAft>
              <a:buNone/>
            </a:pPr>
            <a:r>
              <a:rPr lang="en-US" sz="1150" dirty="0">
                <a:solidFill>
                  <a:schemeClr val="tx1"/>
                </a:solidFill>
              </a:rPr>
              <a:t>The room decision with its deductions visible before admission, not after.</a:t>
            </a:r>
            <a:endParaRPr lang="en-US" sz="1300" dirty="0"/>
          </a:p>
          <a:p>
            <a:pPr indent="0" marL="0">
              <a:spcAft>
                <a:spcPts val="300"/>
              </a:spcAft>
              <a:buNone/>
            </a:pPr>
            <a:r>
              <a:rPr lang="en-US" sz="1150" dirty="0">
                <a:solidFill>
                  <a:schemeClr val="tx1"/>
                </a:solidFill>
              </a:rPr>
              <a:t>Questions for the hospital and the insurer written out: what to ask, and what it is worth.</a:t>
            </a:r>
            <a:endParaRPr lang="en-US" sz="1300" dirty="0"/>
          </a:p>
        </p:txBody>
      </p:sp>
      <p:sp>
        <p:nvSpPr>
          <p:cNvPr id="6" name="card agent"/>
          <p:cNvSpPr/>
          <p:nvPr/>
        </p:nvSpPr>
        <p:spPr>
          <a:xfrm>
            <a:off x="457200" y="3017520"/>
            <a:ext cx="3840480" cy="1463040"/>
          </a:xfrm>
          <a:prstGeom prst="roundRect">
            <a:avLst>
              <a:gd name="adj" fmla="val 5000"/>
            </a:avLst>
          </a:prstGeom>
          <a:solidFill>
            <a:schemeClr val="bg2"/>
          </a:solidFill>
          <a:ln w="9525">
            <a:solidFill>
              <a:schemeClr val="accent6"/>
            </a:solidFill>
            <a:prstDash val="solid"/>
          </a:ln>
        </p:spPr>
      </p:sp>
      <p:sp>
        <p:nvSpPr>
          <p:cNvPr id="7" name="card text agent"/>
          <p:cNvSpPr txBox="1"/>
          <p:nvPr/>
        </p:nvSpPr>
        <p:spPr>
          <a:xfrm>
            <a:off x="566928" y="3108960"/>
            <a:ext cx="3621024" cy="1280160"/>
          </a:xfrm>
          <a:prstGeom prst="rect">
            <a:avLst/>
          </a:prstGeom>
          <a:noFill/>
          <a:ln/>
        </p:spPr>
        <p:txBody>
          <a:bodyPr wrap="square" lIns="0" tIns="0" rIns="0" bIns="0" rtlCol="0" anchor="t"/>
          <a:lstStyle/>
          <a:p>
            <a:pPr indent="0" marL="0">
              <a:spcAft>
                <a:spcPts val="400"/>
              </a:spcAft>
              <a:buNone/>
            </a:pPr>
            <a:r>
              <a:rPr lang="en-US" sz="1300" b="1" dirty="0">
                <a:solidFill>
                  <a:schemeClr val="accent3"/>
                </a:solidFill>
              </a:rPr>
              <a:t>For a broker's claim-assistance agent</a:t>
            </a:r>
            <a:endParaRPr lang="en-US" sz="1300" dirty="0"/>
          </a:p>
          <a:p>
            <a:pPr indent="0" marL="0">
              <a:spcAft>
                <a:spcPts val="300"/>
              </a:spcAft>
              <a:buNone/>
            </a:pPr>
            <a:r>
              <a:rPr lang="en-US" sz="1150" dirty="0">
                <a:solidFill>
                  <a:schemeClr val="tx1"/>
                </a:solidFill>
              </a:rPr>
              <a:t>The clause on screen during the call.</a:t>
            </a:r>
            <a:endParaRPr lang="en-US" sz="1300" dirty="0"/>
          </a:p>
          <a:p>
            <a:pPr indent="0" marL="0">
              <a:spcAft>
                <a:spcPts val="300"/>
              </a:spcAft>
              <a:buNone/>
            </a:pPr>
            <a:r>
              <a:rPr lang="en-US" sz="1150" dirty="0">
                <a:solidFill>
                  <a:schemeClr val="tx1"/>
                </a:solidFill>
              </a:rPr>
              <a:t>The uncertainty list is the call script; the trace is the written answer.</a:t>
            </a:r>
            <a:endParaRPr lang="en-US" sz="1300" dirty="0"/>
          </a:p>
        </p:txBody>
      </p:sp>
      <p:sp>
        <p:nvSpPr>
          <p:cNvPr id="8" name="pill Measured, not claimed"/>
          <p:cNvSpPr/>
          <p:nvPr/>
        </p:nvSpPr>
        <p:spPr>
          <a:xfrm>
            <a:off x="4572000" y="1371600"/>
            <a:ext cx="2011680" cy="274320"/>
          </a:xfrm>
          <a:prstGeom prst="roundRect">
            <a:avLst>
              <a:gd name="adj" fmla="val 50000"/>
            </a:avLst>
          </a:prstGeom>
          <a:solidFill>
            <a:schemeClr val="bg2"/>
          </a:solidFill>
          <a:ln w="9525">
            <a:solidFill>
              <a:schemeClr val="accent4"/>
            </a:solidFill>
            <a:prstDash val="solid"/>
          </a:ln>
        </p:spPr>
      </p:sp>
      <p:sp>
        <p:nvSpPr>
          <p:cNvPr id="9" name="pill text Measured, not claimed"/>
          <p:cNvSpPr txBox="1"/>
          <p:nvPr/>
        </p:nvSpPr>
        <p:spPr>
          <a:xfrm>
            <a:off x="4572000" y="1371600"/>
            <a:ext cx="2011680" cy="274320"/>
          </a:xfrm>
          <a:prstGeom prst="rect">
            <a:avLst/>
          </a:prstGeom>
          <a:noFill/>
          <a:ln/>
        </p:spPr>
        <p:txBody>
          <a:bodyPr wrap="square" lIns="0" tIns="0" rIns="0" bIns="0" rtlCol="0" anchor="ctr"/>
          <a:lstStyle/>
          <a:p>
            <a:pPr algn="ctr" indent="0" marL="0">
              <a:buNone/>
            </a:pPr>
            <a:r>
              <a:rPr lang="en-US" sz="1000" b="1" dirty="0">
                <a:solidFill>
                  <a:schemeClr val="accent4"/>
                </a:solidFill>
              </a:rPr>
              <a:t>Measured, not claimed</a:t>
            </a:r>
            <a:endParaRPr lang="en-US" sz="1000" dirty="0"/>
          </a:p>
        </p:txBody>
      </p:sp>
      <p:graphicFrame>
        <p:nvGraphicFramePr>
          <p:cNvPr id="7" name="evaluation table"/>
          <p:cNvGraphicFramePr>
            <a:graphicFrameLocks noGrp="1"/>
          </p:cNvGraphicFramePr>
          <p:nvPr>
            <p:extLst>
              <p:ext uri="{D42A27DB-BD31-4B8C-83A1-F6EECF244321}">
                <p14:modId xmlns:p14="http://schemas.microsoft.com/office/powerpoint/2010/main" val="1579011935"/>
              </p:ext>
            </p:extLst>
          </p:nvPr>
        </p:nvGraphicFramePr>
        <p:xfrm>
          <a:off x="4572000" y="1783080"/>
          <a:ext cx="4114800" cy="914400"/>
        </p:xfrm>
        <a:graphic>
          <a:graphicData uri="http://schemas.openxmlformats.org/drawingml/2006/table">
            <a:tbl>
              <a:tblPr/>
              <a:tblGrid>
                <a:gridCol w="1920240"/>
                <a:gridCol w="731520"/>
                <a:gridCol w="1463040"/>
              </a:tblGrid>
              <a:tr h="310896">
                <a:tc>
                  <a:txBody>
                    <a:bodyPr/>
                    <a:lstStyle/>
                    <a:p>
                      <a:pPr indent="0" marL="0">
                        <a:buNone/>
                      </a:pPr>
                      <a:r>
                        <a:rPr lang="en-US" sz="1050" b="1" dirty="0">
                          <a:solidFill>
                            <a:srgbClr val="1C1917"/>
                          </a:solidFill>
                          <a:latin typeface="Calibri" pitchFamily="34" charset="0"/>
                          <a:ea typeface="Calibri" pitchFamily="34" charset="-122"/>
                          <a:cs typeface="Calibri" pitchFamily="34" charset="-120"/>
                        </a:rPr>
                        <a:t>Measure</a:t>
                      </a:r>
                      <a:endParaRPr lang="en-US" sz="1050" dirty="0">
                        <a:latin typeface="Calibri" charset="0"/>
                        <a:ea typeface="Calibri" charset="0"/>
                        <a:cs typeface="Calibri" charset="0"/>
                      </a:endParaRPr>
                    </a:p>
                  </a:txBody>
                  <a:tcPr marL="45720" marR="45720" marT="45720" marB="4572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rgbClr val="FFFFFF"/>
                    </a:solidFill>
                  </a:tcPr>
                </a:tc>
                <a:tc>
                  <a:txBody>
                    <a:bodyPr/>
                    <a:lstStyle/>
                    <a:p>
                      <a:pPr indent="0" marL="0">
                        <a:buNone/>
                      </a:pPr>
                      <a:r>
                        <a:rPr lang="en-US" sz="1050" b="1" dirty="0">
                          <a:solidFill>
                            <a:srgbClr val="1C1917"/>
                          </a:solidFill>
                          <a:latin typeface="Calibri" pitchFamily="34" charset="0"/>
                          <a:ea typeface="Calibri" pitchFamily="34" charset="-122"/>
                          <a:cs typeface="Calibri" pitchFamily="34" charset="-120"/>
                        </a:rPr>
                        <a:t>Result</a:t>
                      </a:r>
                      <a:endParaRPr lang="en-US" sz="1050" dirty="0">
                        <a:latin typeface="Calibri" charset="0"/>
                        <a:ea typeface="Calibri" charset="0"/>
                        <a:cs typeface="Calibri" charset="0"/>
                      </a:endParaRPr>
                    </a:p>
                  </a:txBody>
                  <a:tcPr marL="45720" marR="45720" marT="45720" marB="4572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rgbClr val="FFFFFF"/>
                    </a:solidFill>
                  </a:tcPr>
                </a:tc>
                <a:tc>
                  <a:txBody>
                    <a:bodyPr/>
                    <a:lstStyle/>
                    <a:p>
                      <a:pPr indent="0" marL="0">
                        <a:buNone/>
                      </a:pPr>
                      <a:r>
                        <a:rPr lang="en-US" sz="1050" b="1" dirty="0">
                          <a:solidFill>
                            <a:srgbClr val="1C1917"/>
                          </a:solidFill>
                          <a:latin typeface="Calibri" pitchFamily="34" charset="0"/>
                          <a:ea typeface="Calibri" pitchFamily="34" charset="-122"/>
                          <a:cs typeface="Calibri" pitchFamily="34" charset="-120"/>
                        </a:rPr>
                        <a:t>Dataset</a:t>
                      </a:r>
                      <a:endParaRPr lang="en-US" sz="1050" dirty="0">
                        <a:latin typeface="Calibri" charset="0"/>
                        <a:ea typeface="Calibri" charset="0"/>
                        <a:cs typeface="Calibri" charset="0"/>
                      </a:endParaRPr>
                    </a:p>
                  </a:txBody>
                  <a:tcPr marL="45720" marR="45720" marT="45720" marB="4572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C1917"/>
                          </a:solidFill>
                          <a:latin typeface="Calibri" pitchFamily="34" charset="0"/>
                          <a:ea typeface="Calibri" pitchFamily="34" charset="-122"/>
                          <a:cs typeface="Calibri" pitchFamily="34" charset="-120"/>
                        </a:rPr>
                        <a:t>Clause retrieval, top-1</a:t>
                      </a:r>
                      <a:endParaRPr lang="en-US" sz="1050" dirty="0">
                        <a:latin typeface="Calibri" charset="0"/>
                        <a:ea typeface="Calibri" charset="0"/>
                        <a:cs typeface="Calibri" charset="0"/>
                      </a:endParaRPr>
                    </a:p>
                  </a:txBody>
                  <a:tcPr marL="45720" marR="45720" marT="45720" marB="4572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rgbClr val="FFFFFF"/>
                    </a:solidFill>
                  </a:tcPr>
                </a:tc>
                <a:tc>
                  <a:txBody>
                    <a:bodyPr/>
                    <a:lstStyle/>
                    <a:p>
                      <a:pPr indent="0" marL="0">
                        <a:buNone/>
                      </a:pPr>
                      <a:r>
                        <a:rPr lang="en-US" sz="1050" dirty="0">
                          <a:solidFill>
                            <a:srgbClr val="1C1917"/>
                          </a:solidFill>
                          <a:latin typeface="Calibri" pitchFamily="34" charset="0"/>
                          <a:ea typeface="Calibri" pitchFamily="34" charset="-122"/>
                          <a:cs typeface="Calibri" pitchFamily="34" charset="-120"/>
                        </a:rPr>
                        <a:t>11 of 12</a:t>
                      </a:r>
                      <a:endParaRPr lang="en-US" sz="1050" dirty="0">
                        <a:latin typeface="Calibri" charset="0"/>
                        <a:ea typeface="Calibri" charset="0"/>
                        <a:cs typeface="Calibri" charset="0"/>
                      </a:endParaRPr>
                    </a:p>
                  </a:txBody>
                  <a:tcPr marL="45720" marR="45720" marT="45720" marB="4572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rgbClr val="FFFFFF"/>
                    </a:solidFill>
                  </a:tcPr>
                </a:tc>
                <a:tc>
                  <a:txBody>
                    <a:bodyPr/>
                    <a:lstStyle/>
                    <a:p>
                      <a:pPr indent="0" marL="0">
                        <a:buNone/>
                      </a:pPr>
                      <a:r>
                        <a:rPr lang="en-US" sz="1050" dirty="0">
                          <a:solidFill>
                            <a:srgbClr val="1C1917"/>
                          </a:solidFill>
                          <a:latin typeface="Calibri" pitchFamily="34" charset="0"/>
                          <a:ea typeface="Calibri" pitchFamily="34" charset="-122"/>
                          <a:cs typeface="Calibri" pitchFamily="34" charset="-120"/>
                        </a:rPr>
                        <a:t>12 questions, synthetic wording</a:t>
                      </a:r>
                      <a:endParaRPr lang="en-US" sz="1050" dirty="0">
                        <a:latin typeface="Calibri" charset="0"/>
                        <a:ea typeface="Calibri" charset="0"/>
                        <a:cs typeface="Calibri" charset="0"/>
                      </a:endParaRPr>
                    </a:p>
                  </a:txBody>
                  <a:tcPr marL="45720" marR="45720" marT="45720" marB="4572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C1917"/>
                          </a:solidFill>
                          <a:latin typeface="Calibri" pitchFamily="34" charset="0"/>
                          <a:ea typeface="Calibri" pitchFamily="34" charset="-122"/>
                          <a:cs typeface="Calibri" pitchFamily="34" charset="-120"/>
                        </a:rPr>
                        <a:t>Rule extraction, field-level</a:t>
                      </a:r>
                      <a:endParaRPr lang="en-US" sz="1050" dirty="0">
                        <a:latin typeface="Calibri" charset="0"/>
                        <a:ea typeface="Calibri" charset="0"/>
                        <a:cs typeface="Calibri" charset="0"/>
                      </a:endParaRPr>
                    </a:p>
                  </a:txBody>
                  <a:tcPr marL="45720" marR="45720" marT="45720" marB="4572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rgbClr val="FFFFFF"/>
                    </a:solidFill>
                  </a:tcPr>
                </a:tc>
                <a:tc>
                  <a:txBody>
                    <a:bodyPr/>
                    <a:lstStyle/>
                    <a:p>
                      <a:pPr indent="0" marL="0">
                        <a:buNone/>
                      </a:pPr>
                      <a:r>
                        <a:rPr lang="en-US" sz="1050" dirty="0">
                          <a:solidFill>
                            <a:srgbClr val="1C1917"/>
                          </a:solidFill>
                          <a:latin typeface="Calibri" pitchFamily="34" charset="0"/>
                          <a:ea typeface="Calibri" pitchFamily="34" charset="-122"/>
                          <a:cs typeface="Calibri" pitchFamily="34" charset="-120"/>
                        </a:rPr>
                        <a:t>10 of 10</a:t>
                      </a:r>
                      <a:endParaRPr lang="en-US" sz="1050" dirty="0">
                        <a:latin typeface="Calibri" charset="0"/>
                        <a:ea typeface="Calibri" charset="0"/>
                        <a:cs typeface="Calibri" charset="0"/>
                      </a:endParaRPr>
                    </a:p>
                  </a:txBody>
                  <a:tcPr marL="45720" marR="45720" marT="45720" marB="4572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rgbClr val="FFFFFF"/>
                    </a:solidFill>
                  </a:tcPr>
                </a:tc>
                <a:tc>
                  <a:txBody>
                    <a:bodyPr/>
                    <a:lstStyle/>
                    <a:p>
                      <a:pPr indent="0" marL="0">
                        <a:buNone/>
                      </a:pPr>
                      <a:r>
                        <a:rPr lang="en-US" sz="1050" dirty="0">
                          <a:solidFill>
                            <a:srgbClr val="1C1917"/>
                          </a:solidFill>
                          <a:latin typeface="Calibri" pitchFamily="34" charset="0"/>
                          <a:ea typeface="Calibri" pitchFamily="34" charset="-122"/>
                          <a:cs typeface="Calibri" pitchFamily="34" charset="-120"/>
                        </a:rPr>
                        <a:t>10 rule fields</a:t>
                      </a:r>
                      <a:endParaRPr lang="en-US" sz="1050" dirty="0">
                        <a:latin typeface="Calibri" charset="0"/>
                        <a:ea typeface="Calibri" charset="0"/>
                        <a:cs typeface="Calibri" charset="0"/>
                      </a:endParaRPr>
                    </a:p>
                  </a:txBody>
                  <a:tcPr marL="45720" marR="45720" marT="45720" marB="4572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C1917"/>
                          </a:solidFill>
                          <a:latin typeface="Calibri" pitchFamily="34" charset="0"/>
                          <a:ea typeface="Calibri" pitchFamily="34" charset="-122"/>
                          <a:cs typeface="Calibri" pitchFamily="34" charset="-120"/>
                        </a:rPr>
                        <a:t>Calculation correctness, exact paise</a:t>
                      </a:r>
                      <a:endParaRPr lang="en-US" sz="1050" dirty="0">
                        <a:latin typeface="Calibri" charset="0"/>
                        <a:ea typeface="Calibri" charset="0"/>
                        <a:cs typeface="Calibri" charset="0"/>
                      </a:endParaRPr>
                    </a:p>
                  </a:txBody>
                  <a:tcPr marL="45720" marR="45720" marT="45720" marB="4572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rgbClr val="FFFFFF"/>
                    </a:solidFill>
                  </a:tcPr>
                </a:tc>
                <a:tc>
                  <a:txBody>
                    <a:bodyPr/>
                    <a:lstStyle/>
                    <a:p>
                      <a:pPr indent="0" marL="0">
                        <a:buNone/>
                      </a:pPr>
                      <a:r>
                        <a:rPr lang="en-US" sz="1050" dirty="0">
                          <a:solidFill>
                            <a:srgbClr val="1C1917"/>
                          </a:solidFill>
                          <a:latin typeface="Calibri" pitchFamily="34" charset="0"/>
                          <a:ea typeface="Calibri" pitchFamily="34" charset="-122"/>
                          <a:cs typeface="Calibri" pitchFamily="34" charset="-120"/>
                        </a:rPr>
                        <a:t>9 of 9</a:t>
                      </a:r>
                      <a:endParaRPr lang="en-US" sz="1050" dirty="0">
                        <a:latin typeface="Calibri" charset="0"/>
                        <a:ea typeface="Calibri" charset="0"/>
                        <a:cs typeface="Calibri" charset="0"/>
                      </a:endParaRPr>
                    </a:p>
                  </a:txBody>
                  <a:tcPr marL="45720" marR="45720" marT="45720" marB="4572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rgbClr val="FFFFFF"/>
                    </a:solidFill>
                  </a:tcPr>
                </a:tc>
                <a:tc>
                  <a:txBody>
                    <a:bodyPr/>
                    <a:lstStyle/>
                    <a:p>
                      <a:pPr indent="0" marL="0">
                        <a:buNone/>
                      </a:pPr>
                      <a:r>
                        <a:rPr lang="en-US" sz="1050" dirty="0">
                          <a:solidFill>
                            <a:srgbClr val="1C1917"/>
                          </a:solidFill>
                          <a:latin typeface="Calibri" pitchFamily="34" charset="0"/>
                          <a:ea typeface="Calibri" pitchFamily="34" charset="-122"/>
                          <a:cs typeface="Calibri" pitchFamily="34" charset="-120"/>
                        </a:rPr>
                        <a:t>9 scenarios, 46 amounts</a:t>
                      </a:r>
                      <a:endParaRPr lang="en-US" sz="1050" dirty="0">
                        <a:latin typeface="Calibri" charset="0"/>
                        <a:ea typeface="Calibri" charset="0"/>
                        <a:cs typeface="Calibri" charset="0"/>
                      </a:endParaRPr>
                    </a:p>
                  </a:txBody>
                  <a:tcPr marL="45720" marR="45720" marT="45720" marB="4572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C1917"/>
                          </a:solidFill>
                          <a:latin typeface="Calibri" pitchFamily="34" charset="0"/>
                          <a:ea typeface="Calibri" pitchFamily="34" charset="-122"/>
                          <a:cs typeface="Calibri" pitchFamily="34" charset="-120"/>
                        </a:rPr>
                        <a:t>Uncertainty and refusal quality</a:t>
                      </a:r>
                      <a:endParaRPr lang="en-US" sz="1050" dirty="0">
                        <a:latin typeface="Calibri" charset="0"/>
                        <a:ea typeface="Calibri" charset="0"/>
                        <a:cs typeface="Calibri" charset="0"/>
                      </a:endParaRPr>
                    </a:p>
                  </a:txBody>
                  <a:tcPr marL="45720" marR="45720" marT="45720" marB="4572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rgbClr val="FFFFFF"/>
                    </a:solidFill>
                  </a:tcPr>
                </a:tc>
                <a:tc>
                  <a:txBody>
                    <a:bodyPr/>
                    <a:lstStyle/>
                    <a:p>
                      <a:pPr indent="0" marL="0">
                        <a:buNone/>
                      </a:pPr>
                      <a:r>
                        <a:rPr lang="en-US" sz="1050" dirty="0">
                          <a:solidFill>
                            <a:srgbClr val="1C1917"/>
                          </a:solidFill>
                          <a:latin typeface="Calibri" pitchFamily="34" charset="0"/>
                          <a:ea typeface="Calibri" pitchFamily="34" charset="-122"/>
                          <a:cs typeface="Calibri" pitchFamily="34" charset="-120"/>
                        </a:rPr>
                        <a:t>6 of 6</a:t>
                      </a:r>
                      <a:endParaRPr lang="en-US" sz="1050" dirty="0">
                        <a:latin typeface="Calibri" charset="0"/>
                        <a:ea typeface="Calibri" charset="0"/>
                        <a:cs typeface="Calibri" charset="0"/>
                      </a:endParaRPr>
                    </a:p>
                  </a:txBody>
                  <a:tcPr marL="45720" marR="45720" marT="45720" marB="4572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rgbClr val="FFFFFF"/>
                    </a:solidFill>
                  </a:tcPr>
                </a:tc>
                <a:tc>
                  <a:txBody>
                    <a:bodyPr/>
                    <a:lstStyle/>
                    <a:p>
                      <a:pPr indent="0" marL="0">
                        <a:buNone/>
                      </a:pPr>
                      <a:r>
                        <a:rPr lang="en-US" sz="1050" dirty="0">
                          <a:solidFill>
                            <a:srgbClr val="1C1917"/>
                          </a:solidFill>
                          <a:latin typeface="Calibri" pitchFamily="34" charset="0"/>
                          <a:ea typeface="Calibri" pitchFamily="34" charset="-122"/>
                          <a:cs typeface="Calibri" pitchFamily="34" charset="-120"/>
                        </a:rPr>
                        <a:t>6 cases</a:t>
                      </a:r>
                      <a:endParaRPr lang="en-US" sz="1050" dirty="0">
                        <a:latin typeface="Calibri" charset="0"/>
                        <a:ea typeface="Calibri" charset="0"/>
                        <a:cs typeface="Calibri" charset="0"/>
                      </a:endParaRPr>
                    </a:p>
                  </a:txBody>
                  <a:tcPr marL="45720" marR="45720" marT="45720" marB="4572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rgbClr val="FFFFFF"/>
                    </a:solidFill>
                  </a:tcPr>
                </a:tc>
              </a:tr>
            </a:tbl>
          </a:graphicData>
        </a:graphic>
      </p:graphicFrame>
      <p:sp>
        <p:nvSpPr>
          <p:cNvPr id="11" name="impact caption"/>
          <p:cNvSpPr txBox="1"/>
          <p:nvPr/>
        </p:nvSpPr>
        <p:spPr>
          <a:xfrm>
            <a:off x="4572000" y="3429000"/>
            <a:ext cx="4114800" cy="1097280"/>
          </a:xfrm>
          <a:prstGeom prst="rect">
            <a:avLst/>
          </a:prstGeom>
          <a:noFill/>
          <a:ln/>
        </p:spPr>
        <p:txBody>
          <a:bodyPr wrap="square" lIns="0" tIns="0" rIns="0" bIns="0" rtlCol="0" anchor="t"/>
          <a:lstStyle/>
          <a:p>
            <a:pPr indent="0" marL="0">
              <a:buNone/>
            </a:pPr>
            <a:r>
              <a:rPr lang="en-US" sz="1050" dirty="0">
                <a:solidFill>
                  <a:schemeClr val="tx2"/>
                </a:solidFill>
              </a:rPr>
              <a:t>All four measures run on the synthetic demo wording only and say nothing about real policies. The product shows no accuracy figure anywhere. Figures on this slide are potential deductions covered by the simulation, never total out-of-pocket cost.</a:t>
            </a:r>
            <a:endParaRPr lang="en-US" sz="105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8716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dirty="0">
                <a:solidFill>
                  <a:schemeClr val="accent5"/>
                </a:solidFill>
              </a:rPr>
              <a:t>BUSINESS MODEL</a:t>
            </a:r>
            <a:endParaRPr lang="en-US" sz="1100" dirty="0"/>
          </a:p>
        </p:txBody>
      </p:sp>
      <p:sp>
        <p:nvSpPr>
          <p:cNvPr id="3" name="Text 0"/>
          <p:cNvSpPr/>
          <p:nvPr>
            <p:ph idx="101" type="title" hasCustomPrompt="1"/>
          </p:nvPr>
        </p:nvSpPr>
        <p:spPr>
          <a:xfrm>
            <a:off x="457200" y="530352"/>
            <a:ext cx="8229600" cy="685800"/>
          </a:xfrm>
          <a:prstGeom prst="rect">
            <a:avLst/>
          </a:prstGeom>
          <a:noFill/>
          <a:ln/>
        </p:spPr>
        <p:txBody>
          <a:bodyPr wrap="square" lIns="0" tIns="0" rIns="0" bIns="0" rtlCol="0" anchor="t"/>
          <a:lstStyle/>
          <a:p>
            <a:pPr indent="0" marL="0">
              <a:buNone/>
            </a:pPr>
            <a:r>
              <a:rPr lang="en-US" sz="2600" b="1" dirty="0">
                <a:solidFill>
                  <a:schemeClr val="tx1"/>
                </a:solidFill>
              </a:rPr>
              <a:t>Where it fits Paytm, and what must be tested</a:t>
            </a:r>
            <a:endParaRPr lang="en-US" sz="2600" dirty="0"/>
          </a:p>
        </p:txBody>
      </p:sp>
      <p:sp>
        <p:nvSpPr>
          <p:cNvPr id="4" name="pill Verified facts"/>
          <p:cNvSpPr/>
          <p:nvPr/>
        </p:nvSpPr>
        <p:spPr>
          <a:xfrm>
            <a:off x="457200" y="1371600"/>
            <a:ext cx="1463040" cy="274320"/>
          </a:xfrm>
          <a:prstGeom prst="roundRect">
            <a:avLst>
              <a:gd name="adj" fmla="val 50000"/>
            </a:avLst>
          </a:prstGeom>
          <a:solidFill>
            <a:schemeClr val="bg2"/>
          </a:solidFill>
          <a:ln w="9525">
            <a:solidFill>
              <a:schemeClr val="accent4"/>
            </a:solidFill>
            <a:prstDash val="solid"/>
          </a:ln>
        </p:spPr>
      </p:sp>
      <p:sp>
        <p:nvSpPr>
          <p:cNvPr id="5" name="pill text Verified facts"/>
          <p:cNvSpPr txBox="1"/>
          <p:nvPr/>
        </p:nvSpPr>
        <p:spPr>
          <a:xfrm>
            <a:off x="457200" y="1371600"/>
            <a:ext cx="1463040" cy="274320"/>
          </a:xfrm>
          <a:prstGeom prst="rect">
            <a:avLst/>
          </a:prstGeom>
          <a:noFill/>
          <a:ln/>
        </p:spPr>
        <p:txBody>
          <a:bodyPr wrap="square" lIns="0" tIns="0" rIns="0" bIns="0" rtlCol="0" anchor="ctr"/>
          <a:lstStyle/>
          <a:p>
            <a:pPr algn="ctr" indent="0" marL="0">
              <a:buNone/>
            </a:pPr>
            <a:r>
              <a:rPr lang="en-US" sz="1000" b="1" dirty="0">
                <a:solidFill>
                  <a:schemeClr val="accent4"/>
                </a:solidFill>
              </a:rPr>
              <a:t>Verified facts</a:t>
            </a:r>
            <a:endParaRPr lang="en-US" sz="1000" dirty="0"/>
          </a:p>
        </p:txBody>
      </p:sp>
      <p:sp>
        <p:nvSpPr>
          <p:cNvPr id="6" name="verified facts"/>
          <p:cNvSpPr txBox="1"/>
          <p:nvPr/>
        </p:nvSpPr>
        <p:spPr>
          <a:xfrm>
            <a:off x="457200" y="1737360"/>
            <a:ext cx="3931920" cy="28346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tx1"/>
                </a:solidFill>
              </a:rPr>
              <a:t>Paytm Insurance Broking Pvt Ltd is a Direct (Life &amp; General) broker: IRDAI Reg. No. 700, renewed 9 Feb 2026, valid to 16 Feb 2029.</a:t>
            </a:r>
            <a:endParaRPr lang="en-US" sz="1150" dirty="0"/>
          </a:p>
          <a:p>
            <a:pPr marL="342900" indent="-342900">
              <a:spcAft>
                <a:spcPts val="400"/>
              </a:spcAft>
              <a:buSzPct val="100000"/>
              <a:buChar char="•"/>
            </a:pPr>
            <a:r>
              <a:rPr lang="en-US" sz="1150" dirty="0">
                <a:solidFill>
                  <a:schemeClr val="tx1"/>
                </a:solidFill>
              </a:rPr>
              <a:t>It distributes car, two-wheeler, health, life and term policies from 18+ insurers, including Niva Bupa and Aditya Birla Health. It does not underwrite.</a:t>
            </a:r>
            <a:endParaRPr lang="en-US" sz="1150" dirty="0"/>
          </a:p>
          <a:p>
            <a:pPr marL="342900" indent="-342900">
              <a:spcAft>
                <a:spcPts val="400"/>
              </a:spcAft>
              <a:buSzPct val="100000"/>
              <a:buChar char="•"/>
            </a:pPr>
            <a:r>
              <a:rPr lang="en-US" sz="1150" dirty="0">
                <a:solidFill>
                  <a:schemeClr val="tx1"/>
                </a:solidFill>
              </a:rPr>
              <a:t>It already offers claim assistance by phone.</a:t>
            </a:r>
            <a:endParaRPr lang="en-US" sz="1150" dirty="0"/>
          </a:p>
          <a:p>
            <a:pPr marL="342900" indent="-342900">
              <a:buSzPct val="100000"/>
              <a:buChar char="•"/>
            </a:pPr>
            <a:r>
              <a:rPr lang="en-US" sz="1150" dirty="0">
                <a:solidFill>
                  <a:schemeClr val="tx1"/>
                </a:solidFill>
              </a:rPr>
              <a:t>FY25 turnover ₹37.1 crore, loss ₹13.2 crore (Form AOC-1), inside a ₹2,593 crore financial-services line in FY26. Insurance is a small line for Paytm today; clarity is a wedge worth testing.</a:t>
            </a:r>
            <a:endParaRPr lang="en-US" sz="1150" dirty="0"/>
          </a:p>
        </p:txBody>
      </p:sp>
      <p:sp>
        <p:nvSpPr>
          <p:cNvPr id="7" name="pill Hypotheses, each with its test"/>
          <p:cNvSpPr/>
          <p:nvPr/>
        </p:nvSpPr>
        <p:spPr>
          <a:xfrm>
            <a:off x="4663440" y="1371600"/>
            <a:ext cx="2377440" cy="274320"/>
          </a:xfrm>
          <a:prstGeom prst="roundRect">
            <a:avLst>
              <a:gd name="adj" fmla="val 50000"/>
            </a:avLst>
          </a:prstGeom>
          <a:solidFill>
            <a:schemeClr val="bg2"/>
          </a:solidFill>
          <a:ln w="9525">
            <a:solidFill>
              <a:schemeClr val="accent1"/>
            </a:solidFill>
            <a:prstDash val="solid"/>
          </a:ln>
        </p:spPr>
      </p:sp>
      <p:sp>
        <p:nvSpPr>
          <p:cNvPr id="8" name="pill text Hypotheses, each with its test"/>
          <p:cNvSpPr txBox="1"/>
          <p:nvPr/>
        </p:nvSpPr>
        <p:spPr>
          <a:xfrm>
            <a:off x="4663440" y="1371600"/>
            <a:ext cx="2377440" cy="274320"/>
          </a:xfrm>
          <a:prstGeom prst="rect">
            <a:avLst/>
          </a:prstGeom>
          <a:noFill/>
          <a:ln/>
        </p:spPr>
        <p:txBody>
          <a:bodyPr wrap="square" lIns="0" tIns="0" rIns="0" bIns="0" rtlCol="0" anchor="ctr"/>
          <a:lstStyle/>
          <a:p>
            <a:pPr algn="ctr" indent="0" marL="0">
              <a:buNone/>
            </a:pPr>
            <a:r>
              <a:rPr lang="en-US" sz="1000" b="1" dirty="0">
                <a:solidFill>
                  <a:schemeClr val="accent1"/>
                </a:solidFill>
              </a:rPr>
              <a:t>Hypotheses, each with its test</a:t>
            </a:r>
            <a:endParaRPr lang="en-US" sz="1000" dirty="0"/>
          </a:p>
        </p:txBody>
      </p:sp>
      <p:graphicFrame>
        <p:nvGraphicFramePr>
          <p:cNvPr id="8" name="hypotheses table"/>
          <p:cNvGraphicFramePr>
            <a:graphicFrameLocks noGrp="1"/>
          </p:cNvGraphicFramePr>
          <p:nvPr>
            <p:extLst>
              <p:ext uri="{D42A27DB-BD31-4B8C-83A1-F6EECF244321}">
                <p14:modId xmlns:p14="http://schemas.microsoft.com/office/powerpoint/2010/main" val="1579011935"/>
              </p:ext>
            </p:extLst>
          </p:nvPr>
        </p:nvGraphicFramePr>
        <p:xfrm>
          <a:off x="4663440" y="1783080"/>
          <a:ext cx="4023360" cy="914400"/>
        </p:xfrm>
        <a:graphic>
          <a:graphicData uri="http://schemas.openxmlformats.org/drawingml/2006/table">
            <a:tbl>
              <a:tblPr/>
              <a:tblGrid>
                <a:gridCol w="2103120"/>
                <a:gridCol w="1920240"/>
              </a:tblGrid>
              <a:tr h="384048">
                <a:tc>
                  <a:txBody>
                    <a:bodyPr/>
                    <a:lstStyle/>
                    <a:p>
                      <a:pPr indent="0" marL="0">
                        <a:buNone/>
                      </a:pPr>
                      <a:r>
                        <a:rPr lang="en-US" sz="1000" b="1" dirty="0">
                          <a:solidFill>
                            <a:srgbClr val="1C1917"/>
                          </a:solidFill>
                          <a:latin typeface="Calibri" pitchFamily="34" charset="0"/>
                          <a:ea typeface="Calibri" pitchFamily="34" charset="-122"/>
                          <a:cs typeface="Calibri" pitchFamily="34" charset="-120"/>
                        </a:rPr>
                        <a:t>Hypothesis</a:t>
                      </a:r>
                      <a:endParaRPr lang="en-US" sz="1000" dirty="0">
                        <a:latin typeface="Calibri" charset="0"/>
                        <a:ea typeface="Calibri" charset="0"/>
                        <a:cs typeface="Calibri" charset="0"/>
                      </a:endParaRPr>
                    </a:p>
                  </a:txBody>
                  <a:tcPr marL="45720" marR="45720" marT="45720" marB="4572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rgbClr val="FFFFFF"/>
                    </a:solidFill>
                  </a:tcPr>
                </a:tc>
                <a:tc>
                  <a:txBody>
                    <a:bodyPr/>
                    <a:lstStyle/>
                    <a:p>
                      <a:pPr indent="0" marL="0">
                        <a:buNone/>
                      </a:pPr>
                      <a:r>
                        <a:rPr lang="en-US" sz="1000" b="1" dirty="0">
                          <a:solidFill>
                            <a:srgbClr val="1C1917"/>
                          </a:solidFill>
                          <a:latin typeface="Calibri" pitchFamily="34" charset="0"/>
                          <a:ea typeface="Calibri" pitchFamily="34" charset="-122"/>
                          <a:cs typeface="Calibri" pitchFamily="34" charset="-120"/>
                        </a:rPr>
                        <a:t>Test</a:t>
                      </a:r>
                      <a:endParaRPr lang="en-US" sz="1000" dirty="0">
                        <a:latin typeface="Calibri" charset="0"/>
                        <a:ea typeface="Calibri" charset="0"/>
                        <a:cs typeface="Calibri" charset="0"/>
                      </a:endParaRPr>
                    </a:p>
                  </a:txBody>
                  <a:tcPr marL="45720" marR="45720" marT="45720" marB="4572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rgbClr val="FFFFFF"/>
                    </a:solidFill>
                  </a:tcPr>
                </a:tc>
              </a:tr>
              <a:tr h="384048">
                <a:tc>
                  <a:txBody>
                    <a:bodyPr/>
                    <a:lstStyle/>
                    <a:p>
                      <a:pPr indent="0" marL="0">
                        <a:buNone/>
                      </a:pPr>
                      <a:r>
                        <a:rPr lang="en-US" sz="1000" dirty="0">
                          <a:solidFill>
                            <a:srgbClr val="1C1917"/>
                          </a:solidFill>
                          <a:latin typeface="Calibri" pitchFamily="34" charset="0"/>
                          <a:ea typeface="Calibri" pitchFamily="34" charset="-122"/>
                          <a:cs typeface="Calibri" pitchFamily="34" charset="-120"/>
                        </a:rPr>
                        <a:t>Fewer claim-time support contacts and disputes</a:t>
                      </a:r>
                      <a:endParaRPr lang="en-US" sz="1000" dirty="0">
                        <a:latin typeface="Calibri" charset="0"/>
                        <a:ea typeface="Calibri" charset="0"/>
                        <a:cs typeface="Calibri" charset="0"/>
                      </a:endParaRPr>
                    </a:p>
                  </a:txBody>
                  <a:tcPr marL="45720" marR="45720" marT="45720" marB="4572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rgbClr val="FFFFFF"/>
                    </a:solidFill>
                  </a:tcPr>
                </a:tc>
                <a:tc>
                  <a:txBody>
                    <a:bodyPr/>
                    <a:lstStyle/>
                    <a:p>
                      <a:pPr indent="0" marL="0">
                        <a:buNone/>
                      </a:pPr>
                      <a:r>
                        <a:rPr lang="en-US" sz="1000" dirty="0">
                          <a:solidFill>
                            <a:srgbClr val="1C1917"/>
                          </a:solidFill>
                          <a:latin typeface="Calibri" pitchFamily="34" charset="0"/>
                          <a:ea typeface="Calibri" pitchFamily="34" charset="-122"/>
                          <a:cs typeface="Calibri" pitchFamily="34" charset="-120"/>
                        </a:rPr>
                        <a:t>Pilot cohort against a matched cohort</a:t>
                      </a:r>
                      <a:endParaRPr lang="en-US" sz="1000" dirty="0">
                        <a:latin typeface="Calibri" charset="0"/>
                        <a:ea typeface="Calibri" charset="0"/>
                        <a:cs typeface="Calibri" charset="0"/>
                      </a:endParaRPr>
                    </a:p>
                  </a:txBody>
                  <a:tcPr marL="45720" marR="45720" marT="45720" marB="4572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rgbClr val="FFFFFF"/>
                    </a:solidFill>
                  </a:tcPr>
                </a:tc>
              </a:tr>
              <a:tr h="384048">
                <a:tc>
                  <a:txBody>
                    <a:bodyPr/>
                    <a:lstStyle/>
                    <a:p>
                      <a:pPr indent="0" marL="0">
                        <a:buNone/>
                      </a:pPr>
                      <a:r>
                        <a:rPr lang="en-US" sz="1000" dirty="0">
                          <a:solidFill>
                            <a:srgbClr val="1C1917"/>
                          </a:solidFill>
                          <a:latin typeface="Calibri" pitchFamily="34" charset="0"/>
                          <a:ea typeface="Calibri" pitchFamily="34" charset="-122"/>
                          <a:cs typeface="Calibri" pitchFamily="34" charset="-120"/>
                        </a:rPr>
                        <a:t>More eligible-room choices when the consequence is visible</a:t>
                      </a:r>
                      <a:endParaRPr lang="en-US" sz="1000" dirty="0">
                        <a:latin typeface="Calibri" charset="0"/>
                        <a:ea typeface="Calibri" charset="0"/>
                        <a:cs typeface="Calibri" charset="0"/>
                      </a:endParaRPr>
                    </a:p>
                  </a:txBody>
                  <a:tcPr marL="45720" marR="45720" marT="45720" marB="4572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rgbClr val="FFFFFF"/>
                    </a:solidFill>
                  </a:tcPr>
                </a:tc>
                <a:tc>
                  <a:txBody>
                    <a:bodyPr/>
                    <a:lstStyle/>
                    <a:p>
                      <a:pPr indent="0" marL="0">
                        <a:buNone/>
                      </a:pPr>
                      <a:r>
                        <a:rPr lang="en-US" sz="1000" dirty="0">
                          <a:solidFill>
                            <a:srgbClr val="1C1917"/>
                          </a:solidFill>
                          <a:latin typeface="Calibri" pitchFamily="34" charset="0"/>
                          <a:ea typeface="Calibri" pitchFamily="34" charset="-122"/>
                          <a:cs typeface="Calibri" pitchFamily="34" charset="-120"/>
                        </a:rPr>
                        <a:t>Room-change rate in the simulator, then claims data</a:t>
                      </a:r>
                      <a:endParaRPr lang="en-US" sz="1000" dirty="0">
                        <a:latin typeface="Calibri" charset="0"/>
                        <a:ea typeface="Calibri" charset="0"/>
                        <a:cs typeface="Calibri" charset="0"/>
                      </a:endParaRPr>
                    </a:p>
                  </a:txBody>
                  <a:tcPr marL="45720" marR="45720" marT="45720" marB="4572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rgbClr val="FFFFFF"/>
                    </a:solidFill>
                  </a:tcPr>
                </a:tc>
              </a:tr>
              <a:tr h="384048">
                <a:tc>
                  <a:txBody>
                    <a:bodyPr/>
                    <a:lstStyle/>
                    <a:p>
                      <a:pPr indent="0" marL="0">
                        <a:buNone/>
                      </a:pPr>
                      <a:r>
                        <a:rPr lang="en-US" sz="1000" dirty="0">
                          <a:solidFill>
                            <a:srgbClr val="1C1917"/>
                          </a:solidFill>
                          <a:latin typeface="Calibri" pitchFamily="34" charset="0"/>
                          <a:ea typeface="Calibri" pitchFamily="34" charset="-122"/>
                          <a:cs typeface="Calibri" pitchFamily="34" charset="-120"/>
                        </a:rPr>
                        <a:t>Panel insurers co-fund a coverage-clarity tool</a:t>
                      </a:r>
                      <a:endParaRPr lang="en-US" sz="1000" dirty="0">
                        <a:latin typeface="Calibri" charset="0"/>
                        <a:ea typeface="Calibri" charset="0"/>
                        <a:cs typeface="Calibri" charset="0"/>
                      </a:endParaRPr>
                    </a:p>
                  </a:txBody>
                  <a:tcPr marL="45720" marR="45720" marT="45720" marB="4572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rgbClr val="FFFFFF"/>
                    </a:solidFill>
                  </a:tcPr>
                </a:tc>
                <a:tc>
                  <a:txBody>
                    <a:bodyPr/>
                    <a:lstStyle/>
                    <a:p>
                      <a:pPr indent="0" marL="0">
                        <a:buNone/>
                      </a:pPr>
                      <a:r>
                        <a:rPr lang="en-US" sz="1000" dirty="0">
                          <a:solidFill>
                            <a:srgbClr val="1C1917"/>
                          </a:solidFill>
                          <a:latin typeface="Calibri" pitchFamily="34" charset="0"/>
                          <a:ea typeface="Calibri" pitchFamily="34" charset="-122"/>
                          <a:cs typeface="Calibri" pitchFamily="34" charset="-120"/>
                        </a:rPr>
                        <a:t>Three conversations; one signed pilot letter is the pass</a:t>
                      </a:r>
                      <a:endParaRPr lang="en-US" sz="1000" dirty="0">
                        <a:latin typeface="Calibri" charset="0"/>
                        <a:ea typeface="Calibri" charset="0"/>
                        <a:cs typeface="Calibri" charset="0"/>
                      </a:endParaRPr>
                    </a:p>
                  </a:txBody>
                  <a:tcPr marL="45720" marR="45720" marT="45720" marB="4572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rgbClr val="FFFFFF"/>
                    </a:solidFill>
                  </a:tcPr>
                </a:tc>
              </a:tr>
              <a:tr h="384048">
                <a:tc>
                  <a:txBody>
                    <a:bodyPr/>
                    <a:lstStyle/>
                    <a:p>
                      <a:pPr indent="0" marL="0">
                        <a:buNone/>
                      </a:pPr>
                      <a:r>
                        <a:rPr lang="en-US" sz="1000" dirty="0">
                          <a:solidFill>
                            <a:srgbClr val="1C1917"/>
                          </a:solidFill>
                          <a:latin typeface="Calibri" pitchFamily="34" charset="0"/>
                          <a:ea typeface="Calibri" pitchFamily="34" charset="-122"/>
                          <a:cs typeface="Calibri" pitchFamily="34" charset="-120"/>
                        </a:rPr>
                        <a:t>A coverage check lifts conversion or renewal on the policy page</a:t>
                      </a:r>
                      <a:endParaRPr lang="en-US" sz="1000" dirty="0">
                        <a:latin typeface="Calibri" charset="0"/>
                        <a:ea typeface="Calibri" charset="0"/>
                        <a:cs typeface="Calibri" charset="0"/>
                      </a:endParaRPr>
                    </a:p>
                  </a:txBody>
                  <a:tcPr marL="45720" marR="45720" marT="45720" marB="4572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rgbClr val="FFFFFF"/>
                    </a:solidFill>
                  </a:tcPr>
                </a:tc>
                <a:tc>
                  <a:txBody>
                    <a:bodyPr/>
                    <a:lstStyle/>
                    <a:p>
                      <a:pPr indent="0" marL="0">
                        <a:buNone/>
                      </a:pPr>
                      <a:r>
                        <a:rPr lang="en-US" sz="1000" dirty="0">
                          <a:solidFill>
                            <a:srgbClr val="1C1917"/>
                          </a:solidFill>
                          <a:latin typeface="Calibri" pitchFamily="34" charset="0"/>
                          <a:ea typeface="Calibri" pitchFamily="34" charset="-122"/>
                          <a:cs typeface="Calibri" pitchFamily="34" charset="-120"/>
                        </a:rPr>
                        <a:t>A/B test, if Paytm chooses to run one</a:t>
                      </a:r>
                      <a:endParaRPr lang="en-US" sz="1000" dirty="0">
                        <a:latin typeface="Calibri" charset="0"/>
                        <a:ea typeface="Calibri" charset="0"/>
                        <a:cs typeface="Calibri" charset="0"/>
                      </a:endParaRPr>
                    </a:p>
                  </a:txBody>
                  <a:tcPr marL="45720" marR="45720" marT="45720" marB="4572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rgbClr val="FFFFFF"/>
                    </a:solidFill>
                  </a:tcPr>
                </a:tc>
              </a:tr>
            </a:tbl>
          </a:graphicData>
        </a:graphic>
      </p:graphicFrame>
      <p:sp>
        <p:nvSpPr>
          <p:cNvPr id="10" name="business caption"/>
          <p:cNvSpPr txBox="1"/>
          <p:nvPr/>
        </p:nvSpPr>
        <p:spPr>
          <a:xfrm>
            <a:off x="4663440" y="3840480"/>
            <a:ext cx="4023360" cy="777240"/>
          </a:xfrm>
          <a:prstGeom prst="rect">
            <a:avLst/>
          </a:prstGeom>
          <a:noFill/>
          <a:ln/>
        </p:spPr>
        <p:txBody>
          <a:bodyPr wrap="square" lIns="0" tIns="0" rIns="0" bIns="0" rtlCol="0" anchor="t"/>
          <a:lstStyle/>
          <a:p>
            <a:pPr indent="0" marL="0">
              <a:buNone/>
            </a:pPr>
            <a:r>
              <a:rPr lang="en-US" sz="1000" dirty="0">
                <a:solidFill>
                  <a:schemeClr val="tx2"/>
                </a:solidFill>
              </a:rPr>
              <a:t>Revenue options depend on those tests: a broker-side feature (retention), an insurer-paid integration, or a premium claim-assistance tier. No Paytm integration is claimed or built. Bima Sugam is not live; it belongs in the future tense.</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8716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005840"/>
          </a:xfrm>
          <a:prstGeom prst="rect">
            <a:avLst/>
          </a:prstGeom>
          <a:noFill/>
          <a:ln/>
        </p:spPr>
        <p:txBody>
          <a:bodyPr wrap="square" lIns="0" tIns="0" rIns="0" bIns="0" rtlCol="0" anchor="b"/>
          <a:lstStyle/>
          <a:p>
            <a:pPr indent="0" marL="0">
              <a:buNone/>
            </a:pPr>
            <a:r>
              <a:rPr lang="en-US" sz="4000" b="1" dirty="0">
                <a:solidFill>
                  <a:schemeClr val="bg1"/>
                </a:solidFill>
              </a:rPr>
              <a:t>Built, tested, runs offline</a:t>
            </a:r>
            <a:endParaRPr lang="en-US" sz="4000" dirty="0"/>
          </a:p>
        </p:txBody>
      </p:sp>
      <p:sp>
        <p:nvSpPr>
          <p:cNvPr id="3" name="Text 0"/>
          <p:cNvSpPr/>
          <p:nvPr>
            <p:ph idx="101" type="body" hasCustomPrompt="1"/>
          </p:nvPr>
        </p:nvSpPr>
        <p:spPr>
          <a:xfrm>
            <a:off x="548640" y="2468880"/>
            <a:ext cx="8046720" cy="548640"/>
          </a:xfrm>
          <a:prstGeom prst="rect">
            <a:avLst/>
          </a:prstGeom>
          <a:noFill/>
          <a:ln/>
        </p:spPr>
        <p:txBody>
          <a:bodyPr wrap="square" lIns="0" tIns="0" rIns="0" bIns="0" rtlCol="0"/>
          <a:lstStyle/>
          <a:p>
            <a:pPr indent="0" marL="0">
              <a:buNone/>
            </a:pPr>
            <a:r>
              <a:rPr lang="en-US" sz="1800" dirty="0">
                <a:solidFill>
                  <a:schemeClr val="accent6"/>
                </a:solidFill>
              </a:rPr>
              <a:t>github.com/Pushkarmondal/paytm-hackathon · npm install &amp;&amp; npm run dev</a:t>
            </a:r>
            <a:endParaRPr lang="en-US" sz="1800" dirty="0"/>
          </a:p>
        </p:txBody>
      </p:sp>
      <p:sp>
        <p:nvSpPr>
          <p:cNvPr id="4" name="Text 0"/>
          <p:cNvSpPr/>
          <p:nvPr>
            <p:ph idx="102" type="body" hasCustomPrompt="1"/>
          </p:nvPr>
        </p:nvSpPr>
        <p:spPr>
          <a:xfrm>
            <a:off x="548640" y="3154680"/>
            <a:ext cx="8046720" cy="1371600"/>
          </a:xfrm>
          <a:prstGeom prst="rect">
            <a:avLst/>
          </a:prstGeom>
          <a:noFill/>
          <a:ln/>
        </p:spPr>
        <p:txBody>
          <a:bodyPr wrap="square" lIns="0" tIns="0" rIns="0" bIns="0" rtlCol="0" anchor="t"/>
          <a:lstStyle/>
          <a:p>
            <a:pPr indent="0" marL="0">
              <a:spcAft>
                <a:spcPts val="1000"/>
              </a:spcAft>
              <a:buNone/>
            </a:pPr>
            <a:r>
              <a:rPr lang="en-US" sz="1400" dirty="0">
                <a:solidFill>
                  <a:schemeClr val="accent6"/>
                </a:solidFill>
              </a:rPr>
              <a:t>124 unit tests · 13 acceptance cases · 4 evaluation measures · a trace on every number · synthetic policy, labelled everywhere</a:t>
            </a:r>
            <a:endParaRPr lang="en-US" sz="1400" dirty="0"/>
          </a:p>
          <a:p>
            <a:pPr indent="0" marL="0">
              <a:buNone/>
            </a:pPr>
            <a:r>
              <a:rPr lang="en-US" sz="1400" dirty="0">
                <a:solidFill>
                  <a:schemeClr val="accent6"/>
                </a:solidFill>
              </a:rPr>
              <a:t>Next: encode one verified real wording through the same adapter; independent review of the evaluation fixtures; a pilot at a broker's claim-assistance desk.</a:t>
            </a:r>
            <a:endParaRPr lang="en-US" sz="1400" dirty="0"/>
          </a:p>
        </p:txBody>
      </p:sp>
    </p:spTree>
  </p:cSld>
  <p:clrMapOvr>
    <a:masterClrMapping/>
  </p:clrMapOvr>
</p:sld>
</file>

<file path=ppt/theme/theme1.xml><?xml version="1.0" encoding="utf-8"?>
<a:theme xmlns:a="http://schemas.openxmlformats.org/drawingml/2006/main" name="Claim Sach">
  <a:themeElements>
    <a:clrScheme name="Claim Sach">
      <a:dk1>
        <a:srgbClr val="1C1917"/>
      </a:dk1>
      <a:lt1>
        <a:srgbClr val="FFFFFF"/>
      </a:lt1>
      <a:dk2>
        <a:srgbClr val="57534E"/>
      </a:dk2>
      <a:lt2>
        <a:srgbClr val="F5F5F4"/>
      </a:lt2>
      <a:accent1>
        <a:srgbClr val="B45309"/>
      </a:accent1>
      <a:accent2>
        <a:srgbClr val="6D28D9"/>
      </a:accent2>
      <a:accent3>
        <a:srgbClr val="0369A1"/>
      </a:accent3>
      <a:accent4>
        <a:srgbClr val="15803D"/>
      </a:accent4>
      <a:accent5>
        <a:srgbClr val="78716C"/>
      </a:accent5>
      <a:accent6>
        <a:srgbClr val="D6D3D1"/>
      </a:accent6>
      <a:hlink>
        <a:srgbClr val="0369A1"/>
      </a:hlink>
      <a:folHlink>
        <a:srgbClr val="6D28D9"/>
      </a:folHlink>
    </a:clrScheme>
    <a:fontScheme name="Claim Sach">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Claim Sach: Coverage Twin</dc:title>
  <dc:subject>Paytm Build for India AI Hackathon, Bengaluru, 31 October 2026</dc:subject>
  <dc:creator>Pushkar Mondal</dc:creator>
  <cp:lastModifiedBy>Pushkar Mondal</cp:lastModifiedBy>
  <cp:revision>1</cp:revision>
  <dcterms:created xsi:type="dcterms:W3CDTF">2026-10-24T15:28:58Z</dcterms:created>
  <dcterms:modified xsi:type="dcterms:W3CDTF">2026-10-24T15:28:58Z</dcterms:modified>
</cp:coreProperties>
</file>